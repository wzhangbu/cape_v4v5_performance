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10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notesSlides/notesSlide11.xml" ContentType="application/vnd.openxmlformats-officedocument.presentationml.notesSlide+xml"/>
  <Override PartName="/ppt/ink/ink9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313" r:id="rId2"/>
    <p:sldId id="394" r:id="rId3"/>
    <p:sldId id="395" r:id="rId4"/>
    <p:sldId id="523" r:id="rId5"/>
    <p:sldId id="518" r:id="rId6"/>
    <p:sldId id="525" r:id="rId7"/>
    <p:sldId id="524" r:id="rId8"/>
    <p:sldId id="531" r:id="rId9"/>
    <p:sldId id="526" r:id="rId10"/>
    <p:sldId id="529" r:id="rId11"/>
    <p:sldId id="532" r:id="rId12"/>
    <p:sldId id="361" r:id="rId13"/>
    <p:sldId id="362" r:id="rId14"/>
    <p:sldId id="534" r:id="rId15"/>
    <p:sldId id="535" r:id="rId16"/>
    <p:sldId id="533" r:id="rId17"/>
    <p:sldId id="521" r:id="rId18"/>
    <p:sldId id="522" r:id="rId19"/>
    <p:sldId id="348" r:id="rId20"/>
    <p:sldId id="381" r:id="rId21"/>
    <p:sldId id="388" r:id="rId22"/>
    <p:sldId id="383" r:id="rId23"/>
    <p:sldId id="389" r:id="rId24"/>
    <p:sldId id="390" r:id="rId25"/>
    <p:sldId id="391" r:id="rId26"/>
    <p:sldId id="392" r:id="rId27"/>
    <p:sldId id="393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18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0B44A1-8293-4E1C-9852-E5D8E399CBBC}" v="1" dt="2025-11-20T20:53:37.8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9" autoAdjust="0"/>
    <p:restoredTop sz="93243" autoAdjust="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wzhang\Downloads\v5_trai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wzhang\Downloads\v4_train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6153997591599835E-2"/>
          <c:y val="8.5838143096963859E-2"/>
          <c:w val="0.87904432776011454"/>
          <c:h val="0.7484149338595594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 samples </c:v>
                </c:pt>
              </c:strCache>
            </c:strRef>
          </c:tx>
          <c:spPr>
            <a:solidFill>
              <a:schemeClr val="bg1">
                <a:alpha val="7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alpha val="7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C-5252-4330-800D-76370D6D4637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252-4330-800D-76370D6D4637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5252-4330-800D-76370D6D4637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5252-4330-800D-76370D6D4637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3B49-4B3C-B776-6B46EF2C20F7}"/>
              </c:ext>
            </c:extLst>
          </c:dPt>
          <c:dLbls>
            <c:dLbl>
              <c:idx val="0"/>
              <c:layout>
                <c:manualLayout>
                  <c:x val="-4.4018928139100012E-3"/>
                  <c:y val="-0.3780487804878048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5252-4330-800D-76370D6D4637}"/>
                </c:ext>
              </c:extLst>
            </c:dLbl>
            <c:spPr>
              <a:noFill/>
              <a:ln>
                <a:noFill/>
              </a:ln>
              <a:effectLst/>
            </c:spPr>
            <c:dLblPos val="ctr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Sheet1!$B$2:$B$8</c:f>
              <c:strCache>
                <c:ptCount val="7"/>
                <c:pt idx="0">
                  <c:v>All PRAC data 
since 2007</c:v>
                </c:pt>
                <c:pt idx="1">
                  <c:v>HO4 and HO6</c:v>
                </c:pt>
                <c:pt idx="2">
                  <c:v>Highpoint</c:v>
                </c:pt>
                <c:pt idx="3">
                  <c:v>Non-match with
 Cape</c:v>
                </c:pt>
                <c:pt idx="4">
                  <c:v>Baseline 1.40 
doesnot exist</c:v>
                </c:pt>
                <c:pt idx="5">
                  <c:v>Cape no hit</c:v>
                </c:pt>
                <c:pt idx="6">
                  <c:v>Holdout/
Validation/
Training
</c:v>
                </c:pt>
              </c:strCache>
            </c:strRef>
          </c:cat>
          <c:val>
            <c:numRef>
              <c:f>Sheet1!$C$2:$C$8</c:f>
              <c:numCache>
                <c:formatCode>#,##0</c:formatCode>
                <c:ptCount val="7"/>
                <c:pt idx="0">
                  <c:v>4330999</c:v>
                </c:pt>
                <c:pt idx="1">
                  <c:v>3418358</c:v>
                </c:pt>
                <c:pt idx="2">
                  <c:v>1864631</c:v>
                </c:pt>
                <c:pt idx="3">
                  <c:v>1341262</c:v>
                </c:pt>
                <c:pt idx="4">
                  <c:v>935491</c:v>
                </c:pt>
                <c:pt idx="5">
                  <c:v>833744</c:v>
                </c:pt>
                <c:pt idx="6" formatCode="#,##0_);\(#,##0\)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252-4330-800D-76370D6D4637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HO3 Only</c:v>
                </c:pt>
              </c:strCache>
            </c:strRef>
          </c:tx>
          <c:spPr>
            <a:solidFill>
              <a:schemeClr val="accent2"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4.3325716672342337E-8"/>
                  <c:y val="-7.7261682827783063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000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7DEC2E96-0645-41E7-B506-D2D74AC87E3C}" type="VALUE">
                      <a:rPr lang="en-US" sz="1000" baseline="0" smtClean="0"/>
                      <a:pPr>
                        <a:defRPr sz="10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[VALUE]</a:t>
                    </a:fld>
                    <a:endParaRPr 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layout>
                    <c:manualLayout>
                      <c:w val="6.339271556060444E-2"/>
                      <c:h val="4.7195121951219512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5252-4330-800D-76370D6D4637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5252-4330-800D-76370D6D4637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F636-4B1E-BDBE-BCBBCC58223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Sheet1!$B$2:$B$8</c:f>
              <c:strCache>
                <c:ptCount val="7"/>
                <c:pt idx="0">
                  <c:v>All PRAC data 
since 2007</c:v>
                </c:pt>
                <c:pt idx="1">
                  <c:v>HO4 and HO6</c:v>
                </c:pt>
                <c:pt idx="2">
                  <c:v>Highpoint</c:v>
                </c:pt>
                <c:pt idx="3">
                  <c:v>Non-match with
 Cape</c:v>
                </c:pt>
                <c:pt idx="4">
                  <c:v>Baseline 1.40 
doesnot exist</c:v>
                </c:pt>
                <c:pt idx="5">
                  <c:v>Cape no hit</c:v>
                </c:pt>
                <c:pt idx="6">
                  <c:v>Holdout/
Validation/
Training
</c:v>
                </c:pt>
              </c:strCache>
            </c:strRef>
          </c:cat>
          <c:val>
            <c:numRef>
              <c:f>Sheet1!$D$2:$D$8</c:f>
              <c:numCache>
                <c:formatCode>#,##0</c:formatCode>
                <c:ptCount val="7"/>
                <c:pt idx="1">
                  <c:v>912641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252-4330-800D-76370D6D4637}"/>
            </c:ext>
          </c:extLst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No HPPREF</c:v>
                </c:pt>
              </c:strCache>
            </c:strRef>
          </c:tx>
          <c:spPr>
            <a:solidFill>
              <a:schemeClr val="accent3"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1.1004580739800223E-3"/>
                  <c:y val="-0.15809553341107846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427-4D96-AC09-922F05ECE12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Sheet1!$B$2:$B$8</c:f>
              <c:strCache>
                <c:ptCount val="7"/>
                <c:pt idx="0">
                  <c:v>All PRAC data 
since 2007</c:v>
                </c:pt>
                <c:pt idx="1">
                  <c:v>HO4 and HO6</c:v>
                </c:pt>
                <c:pt idx="2">
                  <c:v>Highpoint</c:v>
                </c:pt>
                <c:pt idx="3">
                  <c:v>Non-match with
 Cape</c:v>
                </c:pt>
                <c:pt idx="4">
                  <c:v>Baseline 1.40 
doesnot exist</c:v>
                </c:pt>
                <c:pt idx="5">
                  <c:v>Cape no hit</c:v>
                </c:pt>
                <c:pt idx="6">
                  <c:v>Holdout/
Validation/
Training
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2" formatCode="#,##0">
                  <c:v>1553727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5252-4330-800D-76370D6D4637}"/>
            </c:ext>
          </c:extLst>
        </c:ser>
        <c:ser>
          <c:idx val="3"/>
          <c:order val="3"/>
          <c:tx>
            <c:strRef>
              <c:f>Sheet1!$F$1</c:f>
              <c:strCache>
                <c:ptCount val="1"/>
                <c:pt idx="0">
                  <c:v>Matched with CAPE</c:v>
                </c:pt>
              </c:strCache>
            </c:strRef>
          </c:tx>
          <c:spPr>
            <a:solidFill>
              <a:schemeClr val="accent3">
                <a:lumMod val="60000"/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3"/>
              <c:layout>
                <c:manualLayout>
                  <c:x val="0"/>
                  <c:y val="-7.7235772357723581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355-4EB9-B1C7-7E30EA6B650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Sheet1!$B$2:$B$8</c:f>
              <c:strCache>
                <c:ptCount val="7"/>
                <c:pt idx="0">
                  <c:v>All PRAC data 
since 2007</c:v>
                </c:pt>
                <c:pt idx="1">
                  <c:v>HO4 and HO6</c:v>
                </c:pt>
                <c:pt idx="2">
                  <c:v>Highpoint</c:v>
                </c:pt>
                <c:pt idx="3">
                  <c:v>Non-match with
 Cape</c:v>
                </c:pt>
                <c:pt idx="4">
                  <c:v>Baseline 1.40 
doesnot exist</c:v>
                </c:pt>
                <c:pt idx="5">
                  <c:v>Cape no hit</c:v>
                </c:pt>
                <c:pt idx="6">
                  <c:v>Holdout/
Validation/
Training
</c:v>
                </c:pt>
              </c:strCache>
            </c:strRef>
          </c:cat>
          <c:val>
            <c:numRef>
              <c:f>Sheet1!$F$2:$F$8</c:f>
              <c:numCache>
                <c:formatCode>General</c:formatCode>
                <c:ptCount val="7"/>
                <c:pt idx="3" formatCode="#,##0">
                  <c:v>523369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5252-4330-800D-76370D6D4637}"/>
            </c:ext>
          </c:extLst>
        </c:ser>
        <c:ser>
          <c:idx val="4"/>
          <c:order val="4"/>
          <c:tx>
            <c:strRef>
              <c:f>Sheet1!$G$1</c:f>
              <c:strCache>
                <c:ptCount val="1"/>
                <c:pt idx="0">
                  <c:v>Matched with baseline</c:v>
                </c:pt>
              </c:strCache>
            </c:strRef>
          </c:tx>
          <c:invertIfNegative val="0"/>
          <c:dLbls>
            <c:dLbl>
              <c:idx val="4"/>
              <c:layout>
                <c:manualLayout>
                  <c:x val="-8.0376554522426877E-17"/>
                  <c:y val="-6.6278318052861301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1D91-4939-8F4A-33D69DF9A1AD}"/>
                </c:ext>
              </c:extLst>
            </c:dLbl>
            <c:dLbl>
              <c:idx val="5"/>
              <c:layout>
                <c:manualLayout>
                  <c:x val="0"/>
                  <c:y val="-3.6585365853658611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636-4B1E-BDBE-BCBBCC58223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Sheet1!$B$2:$B$8</c:f>
              <c:strCache>
                <c:ptCount val="7"/>
                <c:pt idx="0">
                  <c:v>All PRAC data 
since 2007</c:v>
                </c:pt>
                <c:pt idx="1">
                  <c:v>HO4 and HO6</c:v>
                </c:pt>
                <c:pt idx="2">
                  <c:v>Highpoint</c:v>
                </c:pt>
                <c:pt idx="3">
                  <c:v>Non-match with
 Cape</c:v>
                </c:pt>
                <c:pt idx="4">
                  <c:v>Baseline 1.40 
doesnot exist</c:v>
                </c:pt>
                <c:pt idx="5">
                  <c:v>Cape no hit</c:v>
                </c:pt>
                <c:pt idx="6">
                  <c:v>Holdout/
Validation/
Training
</c:v>
                </c:pt>
              </c:strCache>
            </c:strRef>
          </c:cat>
          <c:val>
            <c:numRef>
              <c:f>Sheet1!$G$2:$G$8</c:f>
              <c:numCache>
                <c:formatCode>General</c:formatCode>
                <c:ptCount val="7"/>
                <c:pt idx="4" formatCode="#,##0">
                  <c:v>405771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5252-4330-800D-76370D6D4637}"/>
            </c:ext>
          </c:extLst>
        </c:ser>
        <c:ser>
          <c:idx val="5"/>
          <c:order val="5"/>
          <c:tx>
            <c:strRef>
              <c:f>Sheet1!$H$1</c:f>
              <c:strCache>
                <c:ptCount val="1"/>
                <c:pt idx="0">
                  <c:v>Cape_both_OK</c:v>
                </c:pt>
              </c:strCache>
            </c:strRef>
          </c:tx>
          <c:invertIfNegative val="0"/>
          <c:dLbls>
            <c:dLbl>
              <c:idx val="5"/>
              <c:layout>
                <c:manualLayout>
                  <c:x val="0"/>
                  <c:y val="-2.7615965855358981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1D91-4939-8F4A-33D69DF9A1A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Sheet1!$B$2:$B$8</c:f>
              <c:strCache>
                <c:ptCount val="7"/>
                <c:pt idx="0">
                  <c:v>All PRAC data 
since 2007</c:v>
                </c:pt>
                <c:pt idx="1">
                  <c:v>HO4 and HO6</c:v>
                </c:pt>
                <c:pt idx="2">
                  <c:v>Highpoint</c:v>
                </c:pt>
                <c:pt idx="3">
                  <c:v>Non-match with
 Cape</c:v>
                </c:pt>
                <c:pt idx="4">
                  <c:v>Baseline 1.40 
doesnot exist</c:v>
                </c:pt>
                <c:pt idx="5">
                  <c:v>Cape no hit</c:v>
                </c:pt>
                <c:pt idx="6">
                  <c:v>Holdout/
Validation/
Training
</c:v>
                </c:pt>
              </c:strCache>
            </c:strRef>
          </c:cat>
          <c:val>
            <c:numRef>
              <c:f>Sheet1!$H$2:$H$7</c:f>
              <c:numCache>
                <c:formatCode>General</c:formatCode>
                <c:ptCount val="6"/>
                <c:pt idx="5" formatCode="_(* #,##0_);_(* \(#,##0\);_(* &quot;-&quot;??_);_(@_)">
                  <c:v>101747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5252-4330-800D-76370D6D4637}"/>
            </c:ext>
          </c:extLst>
        </c:ser>
        <c:ser>
          <c:idx val="6"/>
          <c:order val="6"/>
          <c:tx>
            <c:strRef>
              <c:f>Sheet1!$I$1</c:f>
              <c:strCache>
                <c:ptCount val="1"/>
                <c:pt idx="0">
                  <c:v>Train</c:v>
                </c:pt>
              </c:strCache>
            </c:strRef>
          </c:tx>
          <c:spPr>
            <a:solidFill>
              <a:schemeClr val="accent2">
                <a:lumMod val="80000"/>
                <a:lumOff val="20000"/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Sheet1!$B$2:$B$8</c:f>
              <c:strCache>
                <c:ptCount val="7"/>
                <c:pt idx="0">
                  <c:v>All PRAC data 
since 2007</c:v>
                </c:pt>
                <c:pt idx="1">
                  <c:v>HO4 and HO6</c:v>
                </c:pt>
                <c:pt idx="2">
                  <c:v>Highpoint</c:v>
                </c:pt>
                <c:pt idx="3">
                  <c:v>Non-match with
 Cape</c:v>
                </c:pt>
                <c:pt idx="4">
                  <c:v>Baseline 1.40 
doesnot exist</c:v>
                </c:pt>
                <c:pt idx="5">
                  <c:v>Cape no hit</c:v>
                </c:pt>
                <c:pt idx="6">
                  <c:v>Holdout/
Validation/
Training
</c:v>
                </c:pt>
              </c:strCache>
            </c:strRef>
          </c:cat>
          <c:val>
            <c:numRef>
              <c:f>Sheet1!$I$2:$I$8</c:f>
              <c:numCache>
                <c:formatCode>General</c:formatCode>
                <c:ptCount val="7"/>
                <c:pt idx="6" formatCode="#,##0">
                  <c:v>409353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355-4EB9-B1C7-7E30EA6B6507}"/>
            </c:ext>
          </c:extLst>
        </c:ser>
        <c:ser>
          <c:idx val="7"/>
          <c:order val="7"/>
          <c:tx>
            <c:strRef>
              <c:f>Sheet1!$J$1</c:f>
              <c:strCache>
                <c:ptCount val="1"/>
                <c:pt idx="0">
                  <c:v>Validation</c:v>
                </c:pt>
              </c:strCache>
            </c:strRef>
          </c:tx>
          <c:spPr>
            <a:solidFill>
              <a:schemeClr val="accent3">
                <a:lumMod val="80000"/>
                <a:lumOff val="20000"/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Sheet1!$B$2:$B$8</c:f>
              <c:strCache>
                <c:ptCount val="7"/>
                <c:pt idx="0">
                  <c:v>All PRAC data 
since 2007</c:v>
                </c:pt>
                <c:pt idx="1">
                  <c:v>HO4 and HO6</c:v>
                </c:pt>
                <c:pt idx="2">
                  <c:v>Highpoint</c:v>
                </c:pt>
                <c:pt idx="3">
                  <c:v>Non-match with
 Cape</c:v>
                </c:pt>
                <c:pt idx="4">
                  <c:v>Baseline 1.40 
doesnot exist</c:v>
                </c:pt>
                <c:pt idx="5">
                  <c:v>Cape no hit</c:v>
                </c:pt>
                <c:pt idx="6">
                  <c:v>Holdout/
Validation/
Training
</c:v>
                </c:pt>
              </c:strCache>
            </c:strRef>
          </c:cat>
          <c:val>
            <c:numRef>
              <c:f>Sheet1!$J$2:$J$8</c:f>
              <c:numCache>
                <c:formatCode>General</c:formatCode>
                <c:ptCount val="7"/>
                <c:pt idx="6" formatCode="#,##0">
                  <c:v>248953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427-4D96-AC09-922F05ECE127}"/>
            </c:ext>
          </c:extLst>
        </c:ser>
        <c:ser>
          <c:idx val="8"/>
          <c:order val="8"/>
          <c:tx>
            <c:strRef>
              <c:f>Sheet1!$K$1</c:f>
              <c:strCache>
                <c:ptCount val="1"/>
                <c:pt idx="0">
                  <c:v>Test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Sheet1!$B$2:$B$8</c:f>
              <c:strCache>
                <c:ptCount val="7"/>
                <c:pt idx="0">
                  <c:v>All PRAC data 
since 2007</c:v>
                </c:pt>
                <c:pt idx="1">
                  <c:v>HO4 and HO6</c:v>
                </c:pt>
                <c:pt idx="2">
                  <c:v>Highpoint</c:v>
                </c:pt>
                <c:pt idx="3">
                  <c:v>Non-match with
 Cape</c:v>
                </c:pt>
                <c:pt idx="4">
                  <c:v>Baseline 1.40 
doesnot exist</c:v>
                </c:pt>
                <c:pt idx="5">
                  <c:v>Cape no hit</c:v>
                </c:pt>
                <c:pt idx="6">
                  <c:v>Holdout/
Validation/
Training
</c:v>
                </c:pt>
              </c:strCache>
            </c:strRef>
          </c:cat>
          <c:val>
            <c:numRef>
              <c:f>Sheet1!$K$2:$K$8</c:f>
              <c:numCache>
                <c:formatCode>General</c:formatCode>
                <c:ptCount val="7"/>
                <c:pt idx="6" formatCode="#,##0">
                  <c:v>175438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1D91-4939-8F4A-33D69DF9A1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43581568"/>
        <c:axId val="143583104"/>
      </c:barChart>
      <c:catAx>
        <c:axId val="143581568"/>
        <c:scaling>
          <c:orientation val="minMax"/>
        </c:scaling>
        <c:delete val="0"/>
        <c:axPos val="b"/>
        <c:numFmt formatCode="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  <a:headEnd type="none" w="sm" len="sm"/>
            <a:tailEnd type="none" w="sm" len="sm"/>
          </a:ln>
          <a:effectLst/>
        </c:spPr>
        <c:txPr>
          <a:bodyPr rot="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  <a:alpha val="97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583104"/>
        <c:crosses val="autoZero"/>
        <c:auto val="0"/>
        <c:lblAlgn val="ctr"/>
        <c:lblOffset val="100"/>
        <c:tickLblSkip val="1"/>
        <c:noMultiLvlLbl val="0"/>
      </c:catAx>
      <c:valAx>
        <c:axId val="143583104"/>
        <c:scaling>
          <c:orientation val="minMax"/>
          <c:max val="4200000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581568"/>
        <c:crossesAt val="1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 rot="-2700000"/>
    <a:lstStyle/>
    <a:p>
      <a:pPr>
        <a:defRPr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Cape V5</a:t>
            </a:r>
            <a:r>
              <a:rPr lang="en-US" baseline="0"/>
              <a:t> cape_roof_rating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5295853656785807E-2"/>
          <c:y val="0.14242745478879443"/>
          <c:w val="0.86455336703942354"/>
          <c:h val="0.696987736635313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cape_roof_condition_rating!$B$1</c:f>
              <c:strCache>
                <c:ptCount val="1"/>
                <c:pt idx="0">
                  <c:v>Frequency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cape_roof_condition_rating!$A$2:$A$7</c:f>
              <c:strCache>
                <c:ptCount val="6"/>
                <c:pt idx="0">
                  <c:v>-2</c:v>
                </c:pt>
                <c:pt idx="1">
                  <c:v>-1</c:v>
                </c:pt>
                <c:pt idx="2">
                  <c:v>0</c:v>
                </c:pt>
                <c:pt idx="3">
                  <c:v>1</c:v>
                </c:pt>
                <c:pt idx="4">
                  <c:v>2</c:v>
                </c:pt>
                <c:pt idx="5">
                  <c:v>unknown</c:v>
                </c:pt>
              </c:strCache>
            </c:strRef>
          </c:cat>
          <c:val>
            <c:numRef>
              <c:f>cape_roof_condition_rating!$B$2:$B$7</c:f>
              <c:numCache>
                <c:formatCode>General</c:formatCode>
                <c:ptCount val="6"/>
                <c:pt idx="0">
                  <c:v>3.223135044814622E-2</c:v>
                </c:pt>
                <c:pt idx="1">
                  <c:v>0.20080224158611271</c:v>
                </c:pt>
                <c:pt idx="2">
                  <c:v>0.32342012883745808</c:v>
                </c:pt>
                <c:pt idx="3">
                  <c:v>0.17961759166294131</c:v>
                </c:pt>
                <c:pt idx="4">
                  <c:v>0.22558280994642771</c:v>
                </c:pt>
                <c:pt idx="5">
                  <c:v>3.8221290670887961E-2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9E-49E4-A16A-392342941E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50988415"/>
        <c:axId val="1350991295"/>
      </c:barChart>
      <c:lineChart>
        <c:grouping val="standard"/>
        <c:varyColors val="0"/>
        <c:ser>
          <c:idx val="1"/>
          <c:order val="1"/>
          <c:tx>
            <c:strRef>
              <c:f>cape_roof_condition_rating!$C$1</c:f>
              <c:strCache>
                <c:ptCount val="1"/>
                <c:pt idx="0">
                  <c:v>adj_PP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cape_roof_condition_rating!$A$2:$A$7</c:f>
              <c:strCache>
                <c:ptCount val="6"/>
                <c:pt idx="0">
                  <c:v>-2</c:v>
                </c:pt>
                <c:pt idx="1">
                  <c:v>-1</c:v>
                </c:pt>
                <c:pt idx="2">
                  <c:v>0</c:v>
                </c:pt>
                <c:pt idx="3">
                  <c:v>1</c:v>
                </c:pt>
                <c:pt idx="4">
                  <c:v>2</c:v>
                </c:pt>
                <c:pt idx="5">
                  <c:v>unknown</c:v>
                </c:pt>
              </c:strCache>
            </c:strRef>
          </c:cat>
          <c:val>
            <c:numRef>
              <c:f>cape_roof_condition_rating!$C$2:$C$7</c:f>
              <c:numCache>
                <c:formatCode>General</c:formatCode>
                <c:ptCount val="6"/>
                <c:pt idx="0">
                  <c:v>1247.885730746345</c:v>
                </c:pt>
                <c:pt idx="1">
                  <c:v>1021.849184636877</c:v>
                </c:pt>
                <c:pt idx="2">
                  <c:v>889.86791054028197</c:v>
                </c:pt>
                <c:pt idx="3">
                  <c:v>775.99533056647385</c:v>
                </c:pt>
                <c:pt idx="4">
                  <c:v>644.62199935703813</c:v>
                </c:pt>
                <c:pt idx="5">
                  <c:v>865.34574851005198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59E-49E4-A16A-392342941E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48851263"/>
        <c:axId val="1348853663"/>
      </c:lineChart>
      <c:catAx>
        <c:axId val="13509884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50991295"/>
        <c:crosses val="autoZero"/>
        <c:auto val="1"/>
        <c:lblAlgn val="ctr"/>
        <c:lblOffset val="100"/>
        <c:noMultiLvlLbl val="0"/>
      </c:catAx>
      <c:valAx>
        <c:axId val="1350991295"/>
        <c:scaling>
          <c:orientation val="minMax"/>
          <c:max val="0.4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50988415"/>
        <c:crosses val="autoZero"/>
        <c:crossBetween val="between"/>
      </c:valAx>
      <c:valAx>
        <c:axId val="1348853663"/>
        <c:scaling>
          <c:orientation val="minMax"/>
          <c:max val="1400"/>
          <c:min val="600"/>
        </c:scaling>
        <c:delete val="0"/>
        <c:axPos val="r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8851263"/>
        <c:crosses val="max"/>
        <c:crossBetween val="between"/>
      </c:valAx>
      <c:catAx>
        <c:axId val="134885126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34885366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Cape V4 cape_roof_rating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cape_roof_condition_rating!$B$1</c:f>
              <c:strCache>
                <c:ptCount val="1"/>
                <c:pt idx="0">
                  <c:v>Frequency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cape_roof_condition_rating!$A$2:$A$7</c:f>
              <c:strCache>
                <c:ptCount val="6"/>
                <c:pt idx="0">
                  <c:v>-2</c:v>
                </c:pt>
                <c:pt idx="1">
                  <c:v>-1</c:v>
                </c:pt>
                <c:pt idx="2">
                  <c:v>0</c:v>
                </c:pt>
                <c:pt idx="3">
                  <c:v>1</c:v>
                </c:pt>
                <c:pt idx="4">
                  <c:v>2</c:v>
                </c:pt>
                <c:pt idx="5">
                  <c:v>unknown</c:v>
                </c:pt>
              </c:strCache>
            </c:strRef>
          </c:cat>
          <c:val>
            <c:numRef>
              <c:f>cape_roof_condition_rating!$B$2:$B$7</c:f>
              <c:numCache>
                <c:formatCode>General</c:formatCode>
                <c:ptCount val="6"/>
                <c:pt idx="0">
                  <c:v>1.309871919834471E-2</c:v>
                </c:pt>
                <c:pt idx="1">
                  <c:v>0.17606564505451289</c:v>
                </c:pt>
                <c:pt idx="2">
                  <c:v>0.35639167173564129</c:v>
                </c:pt>
                <c:pt idx="3">
                  <c:v>0.26687724286862441</c:v>
                </c:pt>
                <c:pt idx="4">
                  <c:v>0.1367646017007326</c:v>
                </c:pt>
                <c:pt idx="5">
                  <c:v>5.0802119442144057E-2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914-4998-BF9B-680ED31E54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48849823"/>
        <c:axId val="1348854143"/>
      </c:barChart>
      <c:lineChart>
        <c:grouping val="standard"/>
        <c:varyColors val="0"/>
        <c:ser>
          <c:idx val="1"/>
          <c:order val="1"/>
          <c:tx>
            <c:strRef>
              <c:f>cape_roof_condition_rating!$C$1</c:f>
              <c:strCache>
                <c:ptCount val="1"/>
                <c:pt idx="0">
                  <c:v>adj_PP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cape_roof_condition_rating!$A$2:$A$7</c:f>
              <c:strCache>
                <c:ptCount val="6"/>
                <c:pt idx="0">
                  <c:v>-2</c:v>
                </c:pt>
                <c:pt idx="1">
                  <c:v>-1</c:v>
                </c:pt>
                <c:pt idx="2">
                  <c:v>0</c:v>
                </c:pt>
                <c:pt idx="3">
                  <c:v>1</c:v>
                </c:pt>
                <c:pt idx="4">
                  <c:v>2</c:v>
                </c:pt>
                <c:pt idx="5">
                  <c:v>unknown</c:v>
                </c:pt>
              </c:strCache>
            </c:strRef>
          </c:cat>
          <c:val>
            <c:numRef>
              <c:f>cape_roof_condition_rating!$C$2:$C$7</c:f>
              <c:numCache>
                <c:formatCode>General</c:formatCode>
                <c:ptCount val="6"/>
                <c:pt idx="0">
                  <c:v>1454.724403526779</c:v>
                </c:pt>
                <c:pt idx="1">
                  <c:v>909.93248105425255</c:v>
                </c:pt>
                <c:pt idx="2">
                  <c:v>872.77122951114882</c:v>
                </c:pt>
                <c:pt idx="3">
                  <c:v>814.64527269218991</c:v>
                </c:pt>
                <c:pt idx="4">
                  <c:v>742.77170292787252</c:v>
                </c:pt>
                <c:pt idx="5">
                  <c:v>809.61448014078564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914-4998-BF9B-680ED31E54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52546879"/>
        <c:axId val="1652546399"/>
      </c:lineChart>
      <c:catAx>
        <c:axId val="13488498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8854143"/>
        <c:crosses val="autoZero"/>
        <c:auto val="1"/>
        <c:lblAlgn val="ctr"/>
        <c:lblOffset val="100"/>
        <c:noMultiLvlLbl val="0"/>
      </c:catAx>
      <c:valAx>
        <c:axId val="134885414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8849823"/>
        <c:crosses val="autoZero"/>
        <c:crossBetween val="between"/>
      </c:valAx>
      <c:valAx>
        <c:axId val="1652546399"/>
        <c:scaling>
          <c:orientation val="minMax"/>
          <c:max val="1400"/>
          <c:min val="600"/>
        </c:scaling>
        <c:delete val="0"/>
        <c:axPos val="r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52546879"/>
        <c:crosses val="max"/>
        <c:crossBetween val="between"/>
      </c:valAx>
      <c:catAx>
        <c:axId val="1652546879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65254639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BC59AB4-59E6-4704-B9DA-A1A57E699CC5}" type="doc">
      <dgm:prSet loTypeId="urn:microsoft.com/office/officeart/2005/8/layout/process1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62F9747-6536-4A41-B505-4E49E7D67459}">
      <dgm:prSet phldrT="[Text]" custT="1"/>
      <dgm:spPr/>
      <dgm:t>
        <a:bodyPr/>
        <a:lstStyle/>
        <a:p>
          <a:r>
            <a:rPr lang="en-US" sz="2400" dirty="0"/>
            <a:t>With selected features, how do V4 and V5 perform on Model 1.40 w/o cape prediction?</a:t>
          </a:r>
          <a:endParaRPr lang="en-US" sz="2400" b="1" dirty="0"/>
        </a:p>
      </dgm:t>
    </dgm:pt>
    <dgm:pt modelId="{230D9E86-3E01-40C2-83B6-EDC5AD842104}" type="parTrans" cxnId="{BD8E7FCD-66BF-4A25-B42B-BF1C586EA8E5}">
      <dgm:prSet/>
      <dgm:spPr/>
      <dgm:t>
        <a:bodyPr/>
        <a:lstStyle/>
        <a:p>
          <a:endParaRPr lang="en-US"/>
        </a:p>
      </dgm:t>
    </dgm:pt>
    <dgm:pt modelId="{EDB432E5-D6BD-4891-A7B8-5985D65F6358}" type="sibTrans" cxnId="{BD8E7FCD-66BF-4A25-B42B-BF1C586EA8E5}">
      <dgm:prSet/>
      <dgm:spPr/>
      <dgm:t>
        <a:bodyPr/>
        <a:lstStyle/>
        <a:p>
          <a:endParaRPr lang="en-US"/>
        </a:p>
      </dgm:t>
    </dgm:pt>
    <dgm:pt modelId="{923ADA6E-2AF3-4183-BC2B-9E17519BD13F}">
      <dgm:prSet custT="1"/>
      <dgm:spPr/>
      <dgm:t>
        <a:bodyPr/>
        <a:lstStyle/>
        <a:p>
          <a:r>
            <a:rPr lang="en-US" sz="2000" b="0" dirty="0"/>
            <a:t>Gini score</a:t>
          </a:r>
        </a:p>
      </dgm:t>
    </dgm:pt>
    <dgm:pt modelId="{F7C29E16-B4EF-498D-B5C9-D6A1C4F5686F}" type="parTrans" cxnId="{3D754CC5-7597-4697-A553-138CD9EE6807}">
      <dgm:prSet/>
      <dgm:spPr/>
      <dgm:t>
        <a:bodyPr/>
        <a:lstStyle/>
        <a:p>
          <a:endParaRPr lang="en-US"/>
        </a:p>
      </dgm:t>
    </dgm:pt>
    <dgm:pt modelId="{6D5F13BD-02A9-45DE-ACFE-C364C58B6E48}" type="sibTrans" cxnId="{3D754CC5-7597-4697-A553-138CD9EE6807}">
      <dgm:prSet/>
      <dgm:spPr/>
      <dgm:t>
        <a:bodyPr/>
        <a:lstStyle/>
        <a:p>
          <a:endParaRPr lang="en-US"/>
        </a:p>
      </dgm:t>
    </dgm:pt>
    <dgm:pt modelId="{F8A6D5C9-D1B4-483A-92DB-DC18478F7429}">
      <dgm:prSet custT="1"/>
      <dgm:spPr/>
      <dgm:t>
        <a:bodyPr/>
        <a:lstStyle/>
        <a:p>
          <a:r>
            <a:rPr lang="en-US" sz="2000" b="0" dirty="0"/>
            <a:t>….</a:t>
          </a:r>
        </a:p>
      </dgm:t>
    </dgm:pt>
    <dgm:pt modelId="{0F7FC3E1-6A88-462F-AED8-AAA8D6DF339E}" type="parTrans" cxnId="{A7B4C9DE-4795-49EB-B588-3A1ECDCD525D}">
      <dgm:prSet/>
      <dgm:spPr/>
      <dgm:t>
        <a:bodyPr/>
        <a:lstStyle/>
        <a:p>
          <a:endParaRPr lang="en-US"/>
        </a:p>
      </dgm:t>
    </dgm:pt>
    <dgm:pt modelId="{920393D4-107D-478E-B529-DECC35437543}" type="sibTrans" cxnId="{A7B4C9DE-4795-49EB-B588-3A1ECDCD525D}">
      <dgm:prSet/>
      <dgm:spPr/>
      <dgm:t>
        <a:bodyPr/>
        <a:lstStyle/>
        <a:p>
          <a:endParaRPr lang="en-US"/>
        </a:p>
      </dgm:t>
    </dgm:pt>
    <dgm:pt modelId="{09D7B9B8-B0A5-46AF-8B70-92443651AB98}">
      <dgm:prSet custT="1"/>
      <dgm:spPr/>
      <dgm:t>
        <a:bodyPr/>
        <a:lstStyle/>
        <a:p>
          <a:r>
            <a:rPr lang="en-US" sz="2000" b="0" dirty="0"/>
            <a:t>Dual lift chart</a:t>
          </a:r>
        </a:p>
      </dgm:t>
    </dgm:pt>
    <dgm:pt modelId="{ED43A99E-5171-46D0-9396-64E589021360}" type="parTrans" cxnId="{10092F77-FEF0-4491-9737-385316A59D04}">
      <dgm:prSet/>
      <dgm:spPr/>
      <dgm:t>
        <a:bodyPr/>
        <a:lstStyle/>
        <a:p>
          <a:endParaRPr lang="en-US"/>
        </a:p>
      </dgm:t>
    </dgm:pt>
    <dgm:pt modelId="{F455E746-AD4C-481B-9280-63F33F35ADB5}" type="sibTrans" cxnId="{10092F77-FEF0-4491-9737-385316A59D04}">
      <dgm:prSet/>
      <dgm:spPr/>
      <dgm:t>
        <a:bodyPr/>
        <a:lstStyle/>
        <a:p>
          <a:endParaRPr lang="en-US"/>
        </a:p>
      </dgm:t>
    </dgm:pt>
    <dgm:pt modelId="{304CDA1F-ACF7-4CAA-AA23-1D8D75847904}">
      <dgm:prSet custT="1"/>
      <dgm:spPr/>
      <dgm:t>
        <a:bodyPr/>
        <a:lstStyle/>
        <a:p>
          <a:r>
            <a:rPr lang="en-US" sz="2400" baseline="0" dirty="0"/>
            <a:t>How many matched samples between Cape and PRAC?</a:t>
          </a:r>
          <a:endParaRPr lang="en-US" sz="2400" b="0" baseline="0" dirty="0"/>
        </a:p>
      </dgm:t>
    </dgm:pt>
    <dgm:pt modelId="{526C13B6-F3F2-4646-9FCF-5AD5EB701CA2}" type="parTrans" cxnId="{4EA4AA54-C2C6-4D9D-9A86-8D0FFF0DB911}">
      <dgm:prSet/>
      <dgm:spPr/>
      <dgm:t>
        <a:bodyPr/>
        <a:lstStyle/>
        <a:p>
          <a:endParaRPr lang="en-US"/>
        </a:p>
      </dgm:t>
    </dgm:pt>
    <dgm:pt modelId="{2FA8D36E-18F6-47A1-B678-5F534896EAC2}" type="sibTrans" cxnId="{4EA4AA54-C2C6-4D9D-9A86-8D0FFF0DB911}">
      <dgm:prSet/>
      <dgm:spPr/>
      <dgm:t>
        <a:bodyPr/>
        <a:lstStyle/>
        <a:p>
          <a:endParaRPr lang="en-US"/>
        </a:p>
      </dgm:t>
    </dgm:pt>
    <dgm:pt modelId="{7832C691-A44F-47EA-B4AD-94E2F93BFCF1}">
      <dgm:prSet custT="1"/>
      <dgm:spPr/>
      <dgm:t>
        <a:bodyPr/>
        <a:lstStyle/>
        <a:p>
          <a:r>
            <a:rPr lang="en-US" sz="2000" b="0" dirty="0"/>
            <a:t>Size</a:t>
          </a:r>
        </a:p>
      </dgm:t>
    </dgm:pt>
    <dgm:pt modelId="{B546BE48-B44A-4AF5-8BB9-88A71FCD3EC0}" type="parTrans" cxnId="{831E5A00-4D3A-41F6-895D-0018EF2F1687}">
      <dgm:prSet/>
      <dgm:spPr/>
      <dgm:t>
        <a:bodyPr/>
        <a:lstStyle/>
        <a:p>
          <a:endParaRPr lang="en-US"/>
        </a:p>
      </dgm:t>
    </dgm:pt>
    <dgm:pt modelId="{8AF9C215-1E30-4971-8D0F-F89CD43EA096}" type="sibTrans" cxnId="{831E5A00-4D3A-41F6-895D-0018EF2F1687}">
      <dgm:prSet/>
      <dgm:spPr/>
      <dgm:t>
        <a:bodyPr/>
        <a:lstStyle/>
        <a:p>
          <a:endParaRPr lang="en-US"/>
        </a:p>
      </dgm:t>
    </dgm:pt>
    <dgm:pt modelId="{B4CA11BD-CAFD-4D09-B8A6-74A34F9A8ED9}">
      <dgm:prSet custT="1"/>
      <dgm:spPr/>
      <dgm:t>
        <a:bodyPr/>
        <a:lstStyle/>
        <a:p>
          <a:r>
            <a:rPr lang="en-US" sz="2000" b="0" dirty="0"/>
            <a:t>Features </a:t>
          </a:r>
        </a:p>
      </dgm:t>
    </dgm:pt>
    <dgm:pt modelId="{26F2408E-F60E-4D9E-ABF9-441CB307FD78}" type="parTrans" cxnId="{0CEBDB03-303F-42A5-A32D-F8B85D21C907}">
      <dgm:prSet/>
      <dgm:spPr/>
      <dgm:t>
        <a:bodyPr/>
        <a:lstStyle/>
        <a:p>
          <a:endParaRPr lang="en-US"/>
        </a:p>
      </dgm:t>
    </dgm:pt>
    <dgm:pt modelId="{9F9E9CBA-0B0A-44AF-AADD-99D459C71B0E}" type="sibTrans" cxnId="{0CEBDB03-303F-42A5-A32D-F8B85D21C907}">
      <dgm:prSet/>
      <dgm:spPr/>
      <dgm:t>
        <a:bodyPr/>
        <a:lstStyle/>
        <a:p>
          <a:endParaRPr lang="en-US"/>
        </a:p>
      </dgm:t>
    </dgm:pt>
    <dgm:pt modelId="{37792633-DBAB-4B32-8A57-275907C45036}">
      <dgm:prSet custT="1"/>
      <dgm:spPr/>
      <dgm:t>
        <a:bodyPr/>
        <a:lstStyle/>
        <a:p>
          <a:r>
            <a:rPr lang="en-US" sz="2000" b="0" dirty="0"/>
            <a:t>…</a:t>
          </a:r>
        </a:p>
      </dgm:t>
    </dgm:pt>
    <dgm:pt modelId="{173685D7-0ED4-4C62-A7C5-AC7651B8F7AE}" type="parTrans" cxnId="{6EBBFBA5-514B-4621-89FC-7C53D64DB103}">
      <dgm:prSet/>
      <dgm:spPr/>
      <dgm:t>
        <a:bodyPr/>
        <a:lstStyle/>
        <a:p>
          <a:endParaRPr lang="en-US"/>
        </a:p>
      </dgm:t>
    </dgm:pt>
    <dgm:pt modelId="{2C31160A-64C8-4FF4-88D3-52F96F8DD194}" type="sibTrans" cxnId="{6EBBFBA5-514B-4621-89FC-7C53D64DB103}">
      <dgm:prSet/>
      <dgm:spPr/>
      <dgm:t>
        <a:bodyPr/>
        <a:lstStyle/>
        <a:p>
          <a:endParaRPr lang="en-US"/>
        </a:p>
      </dgm:t>
    </dgm:pt>
    <dgm:pt modelId="{79A69B26-A490-4349-9C30-341457B4A25C}">
      <dgm:prSet custT="1"/>
      <dgm:spPr/>
      <dgm:t>
        <a:bodyPr/>
        <a:lstStyle/>
        <a:p>
          <a:r>
            <a:rPr lang="en-US" sz="2400" dirty="0"/>
            <a:t>Do Cape V4 and V5 share the same features in May and July?</a:t>
          </a:r>
        </a:p>
      </dgm:t>
    </dgm:pt>
    <dgm:pt modelId="{23EA3220-8B38-4E8B-B998-5DAB34DE0AD5}" type="parTrans" cxnId="{0D17C4C4-5728-461A-BC46-95171529435D}">
      <dgm:prSet/>
      <dgm:spPr/>
      <dgm:t>
        <a:bodyPr/>
        <a:lstStyle/>
        <a:p>
          <a:endParaRPr lang="en-US"/>
        </a:p>
      </dgm:t>
    </dgm:pt>
    <dgm:pt modelId="{90BEF543-330F-4700-8483-A8F16CC25438}" type="sibTrans" cxnId="{0D17C4C4-5728-461A-BC46-95171529435D}">
      <dgm:prSet/>
      <dgm:spPr/>
      <dgm:t>
        <a:bodyPr/>
        <a:lstStyle/>
        <a:p>
          <a:endParaRPr lang="en-US"/>
        </a:p>
      </dgm:t>
    </dgm:pt>
    <dgm:pt modelId="{E76DDFC5-55B1-4EA0-81CF-E04A129880CF}">
      <dgm:prSet custT="1"/>
      <dgm:spPr/>
      <dgm:t>
        <a:bodyPr/>
        <a:lstStyle/>
        <a:p>
          <a:r>
            <a:rPr lang="en-US" sz="2000" b="0" dirty="0"/>
            <a:t>Common and unique features?</a:t>
          </a:r>
        </a:p>
      </dgm:t>
    </dgm:pt>
    <dgm:pt modelId="{8D5A8BA7-BAEC-4F2F-B3C1-37C2FE6A40DD}" type="parTrans" cxnId="{F99829B1-A242-405D-BCCC-3478CD85D6B9}">
      <dgm:prSet/>
      <dgm:spPr/>
      <dgm:t>
        <a:bodyPr/>
        <a:lstStyle/>
        <a:p>
          <a:endParaRPr lang="en-US"/>
        </a:p>
      </dgm:t>
    </dgm:pt>
    <dgm:pt modelId="{93DF99DD-899E-4A2D-833B-263BBDB43822}" type="sibTrans" cxnId="{F99829B1-A242-405D-BCCC-3478CD85D6B9}">
      <dgm:prSet/>
      <dgm:spPr/>
      <dgm:t>
        <a:bodyPr/>
        <a:lstStyle/>
        <a:p>
          <a:endParaRPr lang="en-US"/>
        </a:p>
      </dgm:t>
    </dgm:pt>
    <dgm:pt modelId="{2B904A28-7A54-498E-97DD-EADE3D6B9C83}">
      <dgm:prSet custT="1"/>
      <dgm:spPr/>
      <dgm:t>
        <a:bodyPr/>
        <a:lstStyle/>
        <a:p>
          <a:r>
            <a:rPr lang="en-US" sz="2000" b="0" dirty="0"/>
            <a:t>Distribution for the same features?</a:t>
          </a:r>
          <a:endParaRPr lang="en-US" sz="1700" b="0" dirty="0"/>
        </a:p>
      </dgm:t>
    </dgm:pt>
    <dgm:pt modelId="{390115AD-B0D4-44AC-A3C0-82EFCEAE2D20}" type="parTrans" cxnId="{C38E93F9-DC05-4C91-AFE4-91D6903742F2}">
      <dgm:prSet/>
      <dgm:spPr/>
      <dgm:t>
        <a:bodyPr/>
        <a:lstStyle/>
        <a:p>
          <a:endParaRPr lang="en-US"/>
        </a:p>
      </dgm:t>
    </dgm:pt>
    <dgm:pt modelId="{F2938570-76D1-49CE-AE3F-0CD70F22FDED}" type="sibTrans" cxnId="{C38E93F9-DC05-4C91-AFE4-91D6903742F2}">
      <dgm:prSet/>
      <dgm:spPr/>
      <dgm:t>
        <a:bodyPr/>
        <a:lstStyle/>
        <a:p>
          <a:endParaRPr lang="en-US"/>
        </a:p>
      </dgm:t>
    </dgm:pt>
    <dgm:pt modelId="{5B154961-463A-4D8F-BA94-4C8D3953B731}">
      <dgm:prSet custT="1"/>
      <dgm:spPr/>
      <dgm:t>
        <a:bodyPr/>
        <a:lstStyle/>
        <a:p>
          <a:r>
            <a:rPr lang="en-US" sz="2000" b="0" dirty="0"/>
            <a:t>Lift chart</a:t>
          </a:r>
        </a:p>
      </dgm:t>
    </dgm:pt>
    <dgm:pt modelId="{8F59003D-A514-46CA-A95A-FBF87EE092D7}" type="parTrans" cxnId="{E8471895-B067-4441-98F0-C0467B6697E9}">
      <dgm:prSet/>
      <dgm:spPr/>
      <dgm:t>
        <a:bodyPr/>
        <a:lstStyle/>
        <a:p>
          <a:endParaRPr lang="en-US"/>
        </a:p>
      </dgm:t>
    </dgm:pt>
    <dgm:pt modelId="{7582A7AB-F4DE-48CD-8B43-AE2ADD7AA2C8}" type="sibTrans" cxnId="{E8471895-B067-4441-98F0-C0467B6697E9}">
      <dgm:prSet/>
      <dgm:spPr/>
      <dgm:t>
        <a:bodyPr/>
        <a:lstStyle/>
        <a:p>
          <a:endParaRPr lang="en-US"/>
        </a:p>
      </dgm:t>
    </dgm:pt>
    <dgm:pt modelId="{B5AAB33B-50DB-4D07-BEAA-93C6F9F80877}" type="pres">
      <dgm:prSet presAssocID="{3BC59AB4-59E6-4704-B9DA-A1A57E699CC5}" presName="Name0" presStyleCnt="0">
        <dgm:presLayoutVars>
          <dgm:dir/>
          <dgm:resizeHandles val="exact"/>
        </dgm:presLayoutVars>
      </dgm:prSet>
      <dgm:spPr/>
    </dgm:pt>
    <dgm:pt modelId="{8439DBA1-004D-44A9-8A7C-4209E2E53D49}" type="pres">
      <dgm:prSet presAssocID="{79A69B26-A490-4349-9C30-341457B4A25C}" presName="node" presStyleLbl="node1" presStyleIdx="0" presStyleCnt="3">
        <dgm:presLayoutVars>
          <dgm:bulletEnabled val="1"/>
        </dgm:presLayoutVars>
      </dgm:prSet>
      <dgm:spPr/>
    </dgm:pt>
    <dgm:pt modelId="{D065D139-3D65-4C7A-8799-8326559EC96A}" type="pres">
      <dgm:prSet presAssocID="{90BEF543-330F-4700-8483-A8F16CC25438}" presName="sibTrans" presStyleLbl="sibTrans2D1" presStyleIdx="0" presStyleCnt="2"/>
      <dgm:spPr/>
    </dgm:pt>
    <dgm:pt modelId="{3258FD11-B6B6-4A1D-9244-7B29551D01D4}" type="pres">
      <dgm:prSet presAssocID="{90BEF543-330F-4700-8483-A8F16CC25438}" presName="connectorText" presStyleLbl="sibTrans2D1" presStyleIdx="0" presStyleCnt="2"/>
      <dgm:spPr/>
    </dgm:pt>
    <dgm:pt modelId="{8319D3BF-76F5-4907-B489-41DA7695F215}" type="pres">
      <dgm:prSet presAssocID="{304CDA1F-ACF7-4CAA-AA23-1D8D75847904}" presName="node" presStyleLbl="node1" presStyleIdx="1" presStyleCnt="3">
        <dgm:presLayoutVars>
          <dgm:bulletEnabled val="1"/>
        </dgm:presLayoutVars>
      </dgm:prSet>
      <dgm:spPr/>
    </dgm:pt>
    <dgm:pt modelId="{77CEC82D-7A67-406D-A615-9AF98BD40298}" type="pres">
      <dgm:prSet presAssocID="{2FA8D36E-18F6-47A1-B678-5F534896EAC2}" presName="sibTrans" presStyleLbl="sibTrans2D1" presStyleIdx="1" presStyleCnt="2"/>
      <dgm:spPr/>
    </dgm:pt>
    <dgm:pt modelId="{D48BE782-4316-4780-9255-9D410ED07999}" type="pres">
      <dgm:prSet presAssocID="{2FA8D36E-18F6-47A1-B678-5F534896EAC2}" presName="connectorText" presStyleLbl="sibTrans2D1" presStyleIdx="1" presStyleCnt="2"/>
      <dgm:spPr/>
    </dgm:pt>
    <dgm:pt modelId="{6CA6527A-FF06-4A9F-B27F-B2FF6576080F}" type="pres">
      <dgm:prSet presAssocID="{462F9747-6536-4A41-B505-4E49E7D67459}" presName="node" presStyleLbl="node1" presStyleIdx="2" presStyleCnt="3">
        <dgm:presLayoutVars>
          <dgm:bulletEnabled val="1"/>
        </dgm:presLayoutVars>
      </dgm:prSet>
      <dgm:spPr/>
    </dgm:pt>
  </dgm:ptLst>
  <dgm:cxnLst>
    <dgm:cxn modelId="{831E5A00-4D3A-41F6-895D-0018EF2F1687}" srcId="{304CDA1F-ACF7-4CAA-AA23-1D8D75847904}" destId="{7832C691-A44F-47EA-B4AD-94E2F93BFCF1}" srcOrd="0" destOrd="0" parTransId="{B546BE48-B44A-4AF5-8BB9-88A71FCD3EC0}" sibTransId="{8AF9C215-1E30-4971-8D0F-F89CD43EA096}"/>
    <dgm:cxn modelId="{0CEBDB03-303F-42A5-A32D-F8B85D21C907}" srcId="{304CDA1F-ACF7-4CAA-AA23-1D8D75847904}" destId="{B4CA11BD-CAFD-4D09-B8A6-74A34F9A8ED9}" srcOrd="1" destOrd="0" parTransId="{26F2408E-F60E-4D9E-ABF9-441CB307FD78}" sibTransId="{9F9E9CBA-0B0A-44AF-AADD-99D459C71B0E}"/>
    <dgm:cxn modelId="{836AFA13-FE99-4F5D-83D6-96633A941D20}" type="presOf" srcId="{7832C691-A44F-47EA-B4AD-94E2F93BFCF1}" destId="{8319D3BF-76F5-4907-B489-41DA7695F215}" srcOrd="0" destOrd="1" presId="urn:microsoft.com/office/officeart/2005/8/layout/process1"/>
    <dgm:cxn modelId="{55C9AC14-421A-4957-A6A0-62EDD99F0546}" type="presOf" srcId="{09D7B9B8-B0A5-46AF-8B70-92443651AB98}" destId="{6CA6527A-FF06-4A9F-B27F-B2FF6576080F}" srcOrd="0" destOrd="3" presId="urn:microsoft.com/office/officeart/2005/8/layout/process1"/>
    <dgm:cxn modelId="{10B3F429-F540-4FB8-8A9B-B9D544169B18}" type="presOf" srcId="{79A69B26-A490-4349-9C30-341457B4A25C}" destId="{8439DBA1-004D-44A9-8A7C-4209E2E53D49}" srcOrd="0" destOrd="0" presId="urn:microsoft.com/office/officeart/2005/8/layout/process1"/>
    <dgm:cxn modelId="{89405C5B-6E95-45BE-AD12-94B77A56DEB2}" type="presOf" srcId="{90BEF543-330F-4700-8483-A8F16CC25438}" destId="{D065D139-3D65-4C7A-8799-8326559EC96A}" srcOrd="0" destOrd="0" presId="urn:microsoft.com/office/officeart/2005/8/layout/process1"/>
    <dgm:cxn modelId="{4EA4AA54-C2C6-4D9D-9A86-8D0FFF0DB911}" srcId="{3BC59AB4-59E6-4704-B9DA-A1A57E699CC5}" destId="{304CDA1F-ACF7-4CAA-AA23-1D8D75847904}" srcOrd="1" destOrd="0" parTransId="{526C13B6-F3F2-4646-9FCF-5AD5EB701CA2}" sibTransId="{2FA8D36E-18F6-47A1-B678-5F534896EAC2}"/>
    <dgm:cxn modelId="{10092F77-FEF0-4491-9737-385316A59D04}" srcId="{462F9747-6536-4A41-B505-4E49E7D67459}" destId="{09D7B9B8-B0A5-46AF-8B70-92443651AB98}" srcOrd="2" destOrd="0" parTransId="{ED43A99E-5171-46D0-9396-64E589021360}" sibTransId="{F455E746-AD4C-481B-9280-63F33F35ADB5}"/>
    <dgm:cxn modelId="{65C2C878-55A2-400F-9B15-73930ECEFC32}" type="presOf" srcId="{2FA8D36E-18F6-47A1-B678-5F534896EAC2}" destId="{77CEC82D-7A67-406D-A615-9AF98BD40298}" srcOrd="0" destOrd="0" presId="urn:microsoft.com/office/officeart/2005/8/layout/process1"/>
    <dgm:cxn modelId="{CBD6B07E-93C2-4D9E-B754-3BE07889314E}" type="presOf" srcId="{5B154961-463A-4D8F-BA94-4C8D3953B731}" destId="{6CA6527A-FF06-4A9F-B27F-B2FF6576080F}" srcOrd="0" destOrd="2" presId="urn:microsoft.com/office/officeart/2005/8/layout/process1"/>
    <dgm:cxn modelId="{687B5085-61A4-4C2B-A998-B3D0507195ED}" type="presOf" srcId="{F8A6D5C9-D1B4-483A-92DB-DC18478F7429}" destId="{6CA6527A-FF06-4A9F-B27F-B2FF6576080F}" srcOrd="0" destOrd="4" presId="urn:microsoft.com/office/officeart/2005/8/layout/process1"/>
    <dgm:cxn modelId="{E8471895-B067-4441-98F0-C0467B6697E9}" srcId="{462F9747-6536-4A41-B505-4E49E7D67459}" destId="{5B154961-463A-4D8F-BA94-4C8D3953B731}" srcOrd="1" destOrd="0" parTransId="{8F59003D-A514-46CA-A95A-FBF87EE092D7}" sibTransId="{7582A7AB-F4DE-48CD-8B43-AE2ADD7AA2C8}"/>
    <dgm:cxn modelId="{80B0FC9F-84F6-473D-B052-6683433FAF7F}" type="presOf" srcId="{E76DDFC5-55B1-4EA0-81CF-E04A129880CF}" destId="{8439DBA1-004D-44A9-8A7C-4209E2E53D49}" srcOrd="0" destOrd="1" presId="urn:microsoft.com/office/officeart/2005/8/layout/process1"/>
    <dgm:cxn modelId="{6EBBFBA5-514B-4621-89FC-7C53D64DB103}" srcId="{304CDA1F-ACF7-4CAA-AA23-1D8D75847904}" destId="{37792633-DBAB-4B32-8A57-275907C45036}" srcOrd="2" destOrd="0" parTransId="{173685D7-0ED4-4C62-A7C5-AC7651B8F7AE}" sibTransId="{2C31160A-64C8-4FF4-88D3-52F96F8DD194}"/>
    <dgm:cxn modelId="{2DFDEEAB-DD1A-46EA-8AD2-024BAEDA008B}" type="presOf" srcId="{923ADA6E-2AF3-4183-BC2B-9E17519BD13F}" destId="{6CA6527A-FF06-4A9F-B27F-B2FF6576080F}" srcOrd="0" destOrd="1" presId="urn:microsoft.com/office/officeart/2005/8/layout/process1"/>
    <dgm:cxn modelId="{D64EFFAD-6BDC-4070-B19E-7C5258D5EFA1}" type="presOf" srcId="{2B904A28-7A54-498E-97DD-EADE3D6B9C83}" destId="{8439DBA1-004D-44A9-8A7C-4209E2E53D49}" srcOrd="0" destOrd="2" presId="urn:microsoft.com/office/officeart/2005/8/layout/process1"/>
    <dgm:cxn modelId="{F99829B1-A242-405D-BCCC-3478CD85D6B9}" srcId="{79A69B26-A490-4349-9C30-341457B4A25C}" destId="{E76DDFC5-55B1-4EA0-81CF-E04A129880CF}" srcOrd="0" destOrd="0" parTransId="{8D5A8BA7-BAEC-4F2F-B3C1-37C2FE6A40DD}" sibTransId="{93DF99DD-899E-4A2D-833B-263BBDB43822}"/>
    <dgm:cxn modelId="{947F03C1-E568-413D-B032-B3E0035766F1}" type="presOf" srcId="{90BEF543-330F-4700-8483-A8F16CC25438}" destId="{3258FD11-B6B6-4A1D-9244-7B29551D01D4}" srcOrd="1" destOrd="0" presId="urn:microsoft.com/office/officeart/2005/8/layout/process1"/>
    <dgm:cxn modelId="{A3D4B2C2-783E-4FB9-8A1F-D21E1400A2ED}" type="presOf" srcId="{B4CA11BD-CAFD-4D09-B8A6-74A34F9A8ED9}" destId="{8319D3BF-76F5-4907-B489-41DA7695F215}" srcOrd="0" destOrd="2" presId="urn:microsoft.com/office/officeart/2005/8/layout/process1"/>
    <dgm:cxn modelId="{0D17C4C4-5728-461A-BC46-95171529435D}" srcId="{3BC59AB4-59E6-4704-B9DA-A1A57E699CC5}" destId="{79A69B26-A490-4349-9C30-341457B4A25C}" srcOrd="0" destOrd="0" parTransId="{23EA3220-8B38-4E8B-B998-5DAB34DE0AD5}" sibTransId="{90BEF543-330F-4700-8483-A8F16CC25438}"/>
    <dgm:cxn modelId="{3D754CC5-7597-4697-A553-138CD9EE6807}" srcId="{462F9747-6536-4A41-B505-4E49E7D67459}" destId="{923ADA6E-2AF3-4183-BC2B-9E17519BD13F}" srcOrd="0" destOrd="0" parTransId="{F7C29E16-B4EF-498D-B5C9-D6A1C4F5686F}" sibTransId="{6D5F13BD-02A9-45DE-ACFE-C364C58B6E48}"/>
    <dgm:cxn modelId="{B8F45DCB-6DAE-4365-8E1F-8274872E1EFD}" type="presOf" srcId="{304CDA1F-ACF7-4CAA-AA23-1D8D75847904}" destId="{8319D3BF-76F5-4907-B489-41DA7695F215}" srcOrd="0" destOrd="0" presId="urn:microsoft.com/office/officeart/2005/8/layout/process1"/>
    <dgm:cxn modelId="{BD8E7FCD-66BF-4A25-B42B-BF1C586EA8E5}" srcId="{3BC59AB4-59E6-4704-B9DA-A1A57E699CC5}" destId="{462F9747-6536-4A41-B505-4E49E7D67459}" srcOrd="2" destOrd="0" parTransId="{230D9E86-3E01-40C2-83B6-EDC5AD842104}" sibTransId="{EDB432E5-D6BD-4891-A7B8-5985D65F6358}"/>
    <dgm:cxn modelId="{7ACE4CD4-367F-422A-BB4B-AAFCE09877B9}" type="presOf" srcId="{2FA8D36E-18F6-47A1-B678-5F534896EAC2}" destId="{D48BE782-4316-4780-9255-9D410ED07999}" srcOrd="1" destOrd="0" presId="urn:microsoft.com/office/officeart/2005/8/layout/process1"/>
    <dgm:cxn modelId="{35E6A7DD-B9EA-4B58-BADA-50FEC7440289}" type="presOf" srcId="{37792633-DBAB-4B32-8A57-275907C45036}" destId="{8319D3BF-76F5-4907-B489-41DA7695F215}" srcOrd="0" destOrd="3" presId="urn:microsoft.com/office/officeart/2005/8/layout/process1"/>
    <dgm:cxn modelId="{A7B4C9DE-4795-49EB-B588-3A1ECDCD525D}" srcId="{462F9747-6536-4A41-B505-4E49E7D67459}" destId="{F8A6D5C9-D1B4-483A-92DB-DC18478F7429}" srcOrd="3" destOrd="0" parTransId="{0F7FC3E1-6A88-462F-AED8-AAA8D6DF339E}" sibTransId="{920393D4-107D-478E-B529-DECC35437543}"/>
    <dgm:cxn modelId="{B3460FEF-96E7-4156-AA9A-37DBC341EDD5}" type="presOf" srcId="{462F9747-6536-4A41-B505-4E49E7D67459}" destId="{6CA6527A-FF06-4A9F-B27F-B2FF6576080F}" srcOrd="0" destOrd="0" presId="urn:microsoft.com/office/officeart/2005/8/layout/process1"/>
    <dgm:cxn modelId="{C38E93F9-DC05-4C91-AFE4-91D6903742F2}" srcId="{79A69B26-A490-4349-9C30-341457B4A25C}" destId="{2B904A28-7A54-498E-97DD-EADE3D6B9C83}" srcOrd="1" destOrd="0" parTransId="{390115AD-B0D4-44AC-A3C0-82EFCEAE2D20}" sibTransId="{F2938570-76D1-49CE-AE3F-0CD70F22FDED}"/>
    <dgm:cxn modelId="{03DE90FB-89DB-4161-81A6-DBFF58937B7A}" type="presOf" srcId="{3BC59AB4-59E6-4704-B9DA-A1A57E699CC5}" destId="{B5AAB33B-50DB-4D07-BEAA-93C6F9F80877}" srcOrd="0" destOrd="0" presId="urn:microsoft.com/office/officeart/2005/8/layout/process1"/>
    <dgm:cxn modelId="{D416F6E4-47DF-4877-9956-4121A473344F}" type="presParOf" srcId="{B5AAB33B-50DB-4D07-BEAA-93C6F9F80877}" destId="{8439DBA1-004D-44A9-8A7C-4209E2E53D49}" srcOrd="0" destOrd="0" presId="urn:microsoft.com/office/officeart/2005/8/layout/process1"/>
    <dgm:cxn modelId="{96464BEA-DD8A-4546-8846-F8C389499E5F}" type="presParOf" srcId="{B5AAB33B-50DB-4D07-BEAA-93C6F9F80877}" destId="{D065D139-3D65-4C7A-8799-8326559EC96A}" srcOrd="1" destOrd="0" presId="urn:microsoft.com/office/officeart/2005/8/layout/process1"/>
    <dgm:cxn modelId="{AC6748F1-2151-4D53-BFEC-E4B8C7138807}" type="presParOf" srcId="{D065D139-3D65-4C7A-8799-8326559EC96A}" destId="{3258FD11-B6B6-4A1D-9244-7B29551D01D4}" srcOrd="0" destOrd="0" presId="urn:microsoft.com/office/officeart/2005/8/layout/process1"/>
    <dgm:cxn modelId="{F23BACB1-070F-4172-BA47-35452B4BAFE0}" type="presParOf" srcId="{B5AAB33B-50DB-4D07-BEAA-93C6F9F80877}" destId="{8319D3BF-76F5-4907-B489-41DA7695F215}" srcOrd="2" destOrd="0" presId="urn:microsoft.com/office/officeart/2005/8/layout/process1"/>
    <dgm:cxn modelId="{FCA33D1B-8EB0-4FA8-B49D-F833AADE3877}" type="presParOf" srcId="{B5AAB33B-50DB-4D07-BEAA-93C6F9F80877}" destId="{77CEC82D-7A67-406D-A615-9AF98BD40298}" srcOrd="3" destOrd="0" presId="urn:microsoft.com/office/officeart/2005/8/layout/process1"/>
    <dgm:cxn modelId="{400CD7FA-13BB-433D-89E0-435D41680FB1}" type="presParOf" srcId="{77CEC82D-7A67-406D-A615-9AF98BD40298}" destId="{D48BE782-4316-4780-9255-9D410ED07999}" srcOrd="0" destOrd="0" presId="urn:microsoft.com/office/officeart/2005/8/layout/process1"/>
    <dgm:cxn modelId="{32FFDAFB-CC07-49B4-B04B-36C5DD75FBAF}" type="presParOf" srcId="{B5AAB33B-50DB-4D07-BEAA-93C6F9F80877}" destId="{6CA6527A-FF06-4A9F-B27F-B2FF6576080F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39DBA1-004D-44A9-8A7C-4209E2E53D49}">
      <dsp:nvSpPr>
        <dsp:cNvPr id="0" name=""/>
        <dsp:cNvSpPr/>
      </dsp:nvSpPr>
      <dsp:spPr>
        <a:xfrm>
          <a:off x="10679" y="329992"/>
          <a:ext cx="3191837" cy="34412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Do Cape V4 and V5 share the same features in May and July?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kern="1200" dirty="0"/>
            <a:t>Common and unique features?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kern="1200" dirty="0"/>
            <a:t>Distribution for the same features?</a:t>
          </a:r>
          <a:endParaRPr lang="en-US" sz="1700" b="0" kern="1200" dirty="0"/>
        </a:p>
      </dsp:txBody>
      <dsp:txXfrm>
        <a:off x="104165" y="423478"/>
        <a:ext cx="3004865" cy="3254228"/>
      </dsp:txXfrm>
    </dsp:sp>
    <dsp:sp modelId="{D065D139-3D65-4C7A-8799-8326559EC96A}">
      <dsp:nvSpPr>
        <dsp:cNvPr id="0" name=""/>
        <dsp:cNvSpPr/>
      </dsp:nvSpPr>
      <dsp:spPr>
        <a:xfrm>
          <a:off x="3521700" y="1654804"/>
          <a:ext cx="676669" cy="79157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400" kern="1200"/>
        </a:p>
      </dsp:txBody>
      <dsp:txXfrm>
        <a:off x="3521700" y="1813119"/>
        <a:ext cx="473668" cy="474945"/>
      </dsp:txXfrm>
    </dsp:sp>
    <dsp:sp modelId="{8319D3BF-76F5-4907-B489-41DA7695F215}">
      <dsp:nvSpPr>
        <dsp:cNvPr id="0" name=""/>
        <dsp:cNvSpPr/>
      </dsp:nvSpPr>
      <dsp:spPr>
        <a:xfrm>
          <a:off x="4479252" y="329992"/>
          <a:ext cx="3191837" cy="34412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baseline="0" dirty="0"/>
            <a:t>How many matched samples between Cape and PRAC?</a:t>
          </a:r>
          <a:endParaRPr lang="en-US" sz="2400" b="0" kern="1200" baseline="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kern="1200" dirty="0"/>
            <a:t>Size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kern="1200" dirty="0"/>
            <a:t>Features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kern="1200" dirty="0"/>
            <a:t>…</a:t>
          </a:r>
        </a:p>
      </dsp:txBody>
      <dsp:txXfrm>
        <a:off x="4572738" y="423478"/>
        <a:ext cx="3004865" cy="3254228"/>
      </dsp:txXfrm>
    </dsp:sp>
    <dsp:sp modelId="{77CEC82D-7A67-406D-A615-9AF98BD40298}">
      <dsp:nvSpPr>
        <dsp:cNvPr id="0" name=""/>
        <dsp:cNvSpPr/>
      </dsp:nvSpPr>
      <dsp:spPr>
        <a:xfrm>
          <a:off x="7990273" y="1654804"/>
          <a:ext cx="676669" cy="79157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400" kern="1200"/>
        </a:p>
      </dsp:txBody>
      <dsp:txXfrm>
        <a:off x="7990273" y="1813119"/>
        <a:ext cx="473668" cy="474945"/>
      </dsp:txXfrm>
    </dsp:sp>
    <dsp:sp modelId="{6CA6527A-FF06-4A9F-B27F-B2FF6576080F}">
      <dsp:nvSpPr>
        <dsp:cNvPr id="0" name=""/>
        <dsp:cNvSpPr/>
      </dsp:nvSpPr>
      <dsp:spPr>
        <a:xfrm>
          <a:off x="8947825" y="329992"/>
          <a:ext cx="3191837" cy="34412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With selected features, how do V4 and V5 perform on Model 1.40 w/o cape prediction?</a:t>
          </a:r>
          <a:endParaRPr lang="en-US" sz="2400" b="1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kern="1200" dirty="0"/>
            <a:t>Gini score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kern="1200" dirty="0"/>
            <a:t>Lift chart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kern="1200" dirty="0"/>
            <a:t>Dual lift chart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kern="1200" dirty="0"/>
            <a:t>….</a:t>
          </a:r>
        </a:p>
      </dsp:txBody>
      <dsp:txXfrm>
        <a:off x="9041311" y="423478"/>
        <a:ext cx="3004865" cy="32542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D9AF8A0-62DE-5965-6D05-494523E41E0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6F807A-1DAA-D7D1-0641-C9C0F81C3C2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1D0218-03EC-494F-BE03-0EDC6D5664DB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61A617-23B6-4A2F-01C7-0EAD887892F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383726-48DA-0CBD-6B2B-6B9722E6EFC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A22AAA-77DD-482A-BA5B-0F759C326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3386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6T14:56:56.11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1,'30'1,"40"6,-14-1,95 8,452 35,-20-32,-111-5,195 3,-3-1,-538-9,453 7,-509-15,135-25,64-34,-192 43,-17 6,1 2,81-2,127 10,108 3,-346 2,0 1,35 7,19 3,-69-11,-1 2,0 0,0 0,0 1,0 1,-1 1,14 8,-2-2,-10-6,0-1,0-1,1 0,0-1,0 0,27 1,106-4,-88-3,352 1,-381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6T14:55:52.24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1,'211'67,"13"4,-125-48,176 18,512-28,-532-15,104 3,366-4,0-30,220-29,-135 10,-400 48,47 50,-283-24,226 19,6-27,-196-2,-86-1,319-4,-413-7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6T14:55:54.73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1 336,'28'2,"0"1,0 1,0 2,-1 1,44 17,12 2,88 16,2-8,342 23,364-46,-593-13,-253 2,796 21,-439 19,16 2,2-24,-335-20,103-17,69-27,-85 15,243-36,197-37,-377 53,-169 36,-1-2,0-2,56-31,-37 17,21-5,1 4,164-38,-147 45,43-10,-130 34,0 0,1 1,-1 1,35 4,-51-2,0 1,0 1,0 0,0 0,-1 0,1 1,-1 0,0 0,10 9,-9-7,1 0,0 0,0-1,1-1,11 5,30 5,0-3,67 6,-80-13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6T14:55:56.52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1,'88'12,"178"2,-103-10,504 50,-411-30,126 16,45 4,-109-12,176 11,282-37,-452-8,21-15,-193 7,-1-3,195-43,-283 45,122-5,63 17,-90 1,415-2,-547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6T14:55:58.24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1,'12'1,"0"1,-1 1,1 0,0 0,-1 1,1 1,-1 0,0 0,11 8,5 1,29 13,1-2,2-4,0-1,1-4,1-2,77 8,518 15,-217-20,139 61,-13-1,319-62,-371-43,-415 18,-1-4,98-28,181-69,-316 93,-18 4,0 3,2 1,-1 2,86-4,307 14,163-3,-210-25,-342 21,-1-2,0-2,69-23,-90 21,-7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6T14:55:58.97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5186 2,'-889'12,"-270"9,-7-21,462-2,113-14,-11 0,559 16,12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6T14:56:06.90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1 278,'424'24,"741"70,-97-88,-546-49,-63-12,-264 34,179-12,244-35,-241-7,52-9,-342 73,95 0,87 13,-88 1,303-3,-438 2,1 3,77 17,10 2,-4-3,-98-14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6T14:56:07.61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1,'373'39,"-282"-31,807 39,4-47,-456-3,183 14,-56 9,-549-20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6T14:56:11.13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1,'323'19,"-133"-4,570 8,-132-7,1574 33,-2012-50,604 12,-177 9,-418-7,-23 1,187-13,-208-1,-116-1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BEE4BD-3348-4117-B6B9-0BECC7AE87EB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83C60E-7BB7-4A1E-B85D-666D4B0DD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689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83C60E-7BB7-4A1E-B85D-666D4B0DD1C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4489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0B782-776F-9D4D-215C-0C3B40F57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639218-5CF4-2C54-139A-E1B856D303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51B4F1-F553-3E83-EC6D-C08BE7DF62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Property level</a:t>
            </a:r>
            <a:r>
              <a:rPr lang="en-US" baseline="0" dirty="0"/>
              <a:t> variables , random </a:t>
            </a:r>
            <a:r>
              <a:rPr lang="en-US" baseline="0" dirty="0" err="1"/>
              <a:t>foreset</a:t>
            </a:r>
            <a:r>
              <a:rPr lang="en-US" baseline="0" dirty="0"/>
              <a:t>[</a:t>
            </a:r>
            <a:r>
              <a:rPr lang="en-US" baseline="0" dirty="0" err="1"/>
              <a:t>ncat</a:t>
            </a:r>
            <a:r>
              <a:rPr lang="en-US" baseline="0" dirty="0"/>
              <a:t>] ,  </a:t>
            </a:r>
            <a:r>
              <a:rPr lang="en-US" baseline="0" dirty="0" err="1"/>
              <a:t>rule_rank</a:t>
            </a:r>
            <a:r>
              <a:rPr lang="en-US" baseline="0" dirty="0"/>
              <a:t> performance[‘LR’]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54FB06-9173-F3E8-D71E-C0BA0D11A0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0C9FF0-80BE-43C0-8478-DAECD502F52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0499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Property level</a:t>
            </a:r>
            <a:r>
              <a:rPr lang="en-US" baseline="0" dirty="0"/>
              <a:t> variables , random </a:t>
            </a:r>
            <a:r>
              <a:rPr lang="en-US" baseline="0" dirty="0" err="1"/>
              <a:t>foreset</a:t>
            </a:r>
            <a:r>
              <a:rPr lang="en-US" baseline="0" dirty="0"/>
              <a:t>[</a:t>
            </a:r>
            <a:r>
              <a:rPr lang="en-US" baseline="0" dirty="0" err="1"/>
              <a:t>ncat</a:t>
            </a:r>
            <a:r>
              <a:rPr lang="en-US" baseline="0" dirty="0"/>
              <a:t>] ,  </a:t>
            </a:r>
            <a:r>
              <a:rPr lang="en-US" baseline="0" dirty="0" err="1"/>
              <a:t>rule_rank</a:t>
            </a:r>
            <a:r>
              <a:rPr lang="en-US" baseline="0" dirty="0"/>
              <a:t> performance[‘LR’]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0C9FF0-80BE-43C0-8478-DAECD502F52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9696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F4705-9AA9-55F8-74C9-45A879A9B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8ECA7A-C000-F7D0-3404-38F9478608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95651F-E196-CC12-B38B-A64493D88F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Property level</a:t>
            </a:r>
            <a:r>
              <a:rPr lang="en-US" baseline="0" dirty="0"/>
              <a:t> variables , random </a:t>
            </a:r>
            <a:r>
              <a:rPr lang="en-US" baseline="0" dirty="0" err="1"/>
              <a:t>foreset</a:t>
            </a:r>
            <a:r>
              <a:rPr lang="en-US" baseline="0" dirty="0"/>
              <a:t>[</a:t>
            </a:r>
            <a:r>
              <a:rPr lang="en-US" baseline="0" dirty="0" err="1"/>
              <a:t>ncat</a:t>
            </a:r>
            <a:r>
              <a:rPr lang="en-US" baseline="0" dirty="0"/>
              <a:t>] ,  </a:t>
            </a:r>
            <a:r>
              <a:rPr lang="en-US" baseline="0" dirty="0" err="1"/>
              <a:t>rule_rank</a:t>
            </a:r>
            <a:r>
              <a:rPr lang="en-US" baseline="0" dirty="0"/>
              <a:t> performance[‘LR’]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CF5DEB-6367-8F19-E668-773B01B6D8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0C9FF0-80BE-43C0-8478-DAECD502F52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4167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6E330-CD3F-5C99-593B-A40AFCEA2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6685E1-7DA5-11CF-97DF-D48B079E38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EE15F9-08A6-6994-00DA-D76392F08C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Property level</a:t>
            </a:r>
            <a:r>
              <a:rPr lang="en-US" baseline="0" dirty="0"/>
              <a:t> variables , random </a:t>
            </a:r>
            <a:r>
              <a:rPr lang="en-US" baseline="0" dirty="0" err="1"/>
              <a:t>foreset</a:t>
            </a:r>
            <a:r>
              <a:rPr lang="en-US" baseline="0" dirty="0"/>
              <a:t>[</a:t>
            </a:r>
            <a:r>
              <a:rPr lang="en-US" baseline="0" dirty="0" err="1"/>
              <a:t>ncat</a:t>
            </a:r>
            <a:r>
              <a:rPr lang="en-US" baseline="0" dirty="0"/>
              <a:t>] ,  </a:t>
            </a:r>
            <a:r>
              <a:rPr lang="en-US" baseline="0" dirty="0" err="1"/>
              <a:t>rule_rank</a:t>
            </a:r>
            <a:r>
              <a:rPr lang="en-US" baseline="0" dirty="0"/>
              <a:t> performance[‘LR’]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F3D1F0-CB11-DBB8-502A-6C38E661F3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0C9FF0-80BE-43C0-8478-DAECD502F52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1757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83C60E-7BB7-4A1E-B85D-666D4B0DD1C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9060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85B3B-76E2-6BE7-3C3C-4F2DFE348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715A5B-58C3-C485-44C5-3BBAB30612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4F8F27-58F4-4549-328A-4A3C7CD962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9588F4-8A8D-5384-D201-22F959CBB3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83C60E-7BB7-4A1E-B85D-666D4B0DD1C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9633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0C0A4-4D81-589C-CA4B-5789DF253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A5950E-8204-9CB4-6CC3-2BBA2EC54D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B58EA5-87C6-5314-95D9-19058BF500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35C8D-828D-D5F5-9FE1-F0766B557E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83C60E-7BB7-4A1E-B85D-666D4B0DD1C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9870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9E943-93F8-42C6-055F-A3535EE0F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D2632F-8606-0EFA-2449-CE7DB4C881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E56F66-D0FE-F239-FEC0-8E8909DE36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D28A6-B4BC-94AD-410C-EB3559807F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83C60E-7BB7-4A1E-B85D-666D4B0DD1C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8289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8C3CB-957B-E737-0AE7-693749749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DD7E3B-8655-8D03-2DA8-1B36B6F467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49EB1D-ABC0-AB77-2765-8291236169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81C3B9-80A4-FC25-CF41-069354E387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83C60E-7BB7-4A1E-B85D-666D4B0DD1C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604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9F49A-2C0B-48B2-96A0-988ACA3D3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0A60D8-7401-3173-52F6-AC993BD9AF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F6B0F0-03A7-F77E-09BC-EDEB7672DD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4065A-12E8-6ECC-F293-0F88FE9B23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83C60E-7BB7-4A1E-B85D-666D4B0DD1C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2346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BD76A-D432-4240-AFC7-55825D757297}" type="datetime1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Jay 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308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BED2-2121-4873-9F19-A95842714A71}" type="datetime1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Jay 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206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E25FE-234F-4DAC-A9F7-D5F39ECED1DB}" type="datetime1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Jay 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092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1D311-BF41-46F9-89AC-0CD2E062ACC8}" type="datetime1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Jay Pi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007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54AFB-3733-430F-B048-99080FDE6BC7}" type="datetime1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Jay Pi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530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5B6BE-7136-4C1A-ACFE-944DD0D93C31}" type="datetime1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Jay Pi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758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EE0E3-3410-4183-BD7B-2C9E54FB2479}" type="datetime1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Jay 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113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B1E59-E905-46AD-8B7C-A7D080BC90A6}" type="datetime1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Jay Pi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981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C9D4B-BABF-4EF5-AFF7-7CD39B831705}" type="datetime1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Jay Pi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388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ADB4D-043C-442E-999C-9B26B83F6604}" type="datetime1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Jay 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630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BEAFE-4A9B-46F8-A98D-58DC6137F9F5}" type="datetime1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Jay 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2057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8">
            <a:extLst>
              <a:ext uri="{FF2B5EF4-FFF2-40B4-BE49-F238E27FC236}">
                <a16:creationId xmlns:a16="http://schemas.microsoft.com/office/drawing/2014/main" id="{BA63BBE0-E6AC-FF46-84EF-6B9B6A3B31F5}"/>
              </a:ext>
            </a:extLst>
          </p:cNvPr>
          <p:cNvSpPr/>
          <p:nvPr userDrawn="1"/>
        </p:nvSpPr>
        <p:spPr>
          <a:xfrm rot="10800000">
            <a:off x="-12700" y="-25835"/>
            <a:ext cx="12217400" cy="5605714"/>
          </a:xfrm>
          <a:custGeom>
            <a:avLst/>
            <a:gdLst>
              <a:gd name="connsiteX0" fmla="*/ 0 w 12192000"/>
              <a:gd name="connsiteY0" fmla="*/ 0 h 2341814"/>
              <a:gd name="connsiteX1" fmla="*/ 12192000 w 12192000"/>
              <a:gd name="connsiteY1" fmla="*/ 0 h 2341814"/>
              <a:gd name="connsiteX2" fmla="*/ 12192000 w 12192000"/>
              <a:gd name="connsiteY2" fmla="*/ 2341814 h 2341814"/>
              <a:gd name="connsiteX3" fmla="*/ 0 w 12192000"/>
              <a:gd name="connsiteY3" fmla="*/ 2341814 h 2341814"/>
              <a:gd name="connsiteX4" fmla="*/ 0 w 12192000"/>
              <a:gd name="connsiteY4" fmla="*/ 0 h 2341814"/>
              <a:gd name="connsiteX0" fmla="*/ 35169 w 12192000"/>
              <a:gd name="connsiteY0" fmla="*/ 1746739 h 2341814"/>
              <a:gd name="connsiteX1" fmla="*/ 12192000 w 12192000"/>
              <a:gd name="connsiteY1" fmla="*/ 0 h 2341814"/>
              <a:gd name="connsiteX2" fmla="*/ 12192000 w 12192000"/>
              <a:gd name="connsiteY2" fmla="*/ 2341814 h 2341814"/>
              <a:gd name="connsiteX3" fmla="*/ 0 w 12192000"/>
              <a:gd name="connsiteY3" fmla="*/ 2341814 h 2341814"/>
              <a:gd name="connsiteX4" fmla="*/ 35169 w 12192000"/>
              <a:gd name="connsiteY4" fmla="*/ 1746739 h 2341814"/>
              <a:gd name="connsiteX0" fmla="*/ 11723 w 12192000"/>
              <a:gd name="connsiteY0" fmla="*/ 1066801 h 2341814"/>
              <a:gd name="connsiteX1" fmla="*/ 12192000 w 12192000"/>
              <a:gd name="connsiteY1" fmla="*/ 0 h 2341814"/>
              <a:gd name="connsiteX2" fmla="*/ 12192000 w 12192000"/>
              <a:gd name="connsiteY2" fmla="*/ 2341814 h 2341814"/>
              <a:gd name="connsiteX3" fmla="*/ 0 w 12192000"/>
              <a:gd name="connsiteY3" fmla="*/ 2341814 h 2341814"/>
              <a:gd name="connsiteX4" fmla="*/ 11723 w 12192000"/>
              <a:gd name="connsiteY4" fmla="*/ 1066801 h 2341814"/>
              <a:gd name="connsiteX0" fmla="*/ 0 w 12192000"/>
              <a:gd name="connsiteY0" fmla="*/ 1078524 h 2341814"/>
              <a:gd name="connsiteX1" fmla="*/ 12192000 w 12192000"/>
              <a:gd name="connsiteY1" fmla="*/ 0 h 2341814"/>
              <a:gd name="connsiteX2" fmla="*/ 12192000 w 12192000"/>
              <a:gd name="connsiteY2" fmla="*/ 2341814 h 2341814"/>
              <a:gd name="connsiteX3" fmla="*/ 0 w 12192000"/>
              <a:gd name="connsiteY3" fmla="*/ 2341814 h 2341814"/>
              <a:gd name="connsiteX4" fmla="*/ 0 w 12192000"/>
              <a:gd name="connsiteY4" fmla="*/ 1078524 h 2341814"/>
              <a:gd name="connsiteX0" fmla="*/ 0 w 12192000"/>
              <a:gd name="connsiteY0" fmla="*/ 1060236 h 2341814"/>
              <a:gd name="connsiteX1" fmla="*/ 12192000 w 12192000"/>
              <a:gd name="connsiteY1" fmla="*/ 0 h 2341814"/>
              <a:gd name="connsiteX2" fmla="*/ 12192000 w 12192000"/>
              <a:gd name="connsiteY2" fmla="*/ 2341814 h 2341814"/>
              <a:gd name="connsiteX3" fmla="*/ 0 w 12192000"/>
              <a:gd name="connsiteY3" fmla="*/ 2341814 h 2341814"/>
              <a:gd name="connsiteX4" fmla="*/ 0 w 12192000"/>
              <a:gd name="connsiteY4" fmla="*/ 1060236 h 2341814"/>
              <a:gd name="connsiteX0" fmla="*/ 0 w 12204700"/>
              <a:gd name="connsiteY0" fmla="*/ 1060236 h 5605714"/>
              <a:gd name="connsiteX1" fmla="*/ 12192000 w 12204700"/>
              <a:gd name="connsiteY1" fmla="*/ 0 h 5605714"/>
              <a:gd name="connsiteX2" fmla="*/ 12204700 w 12204700"/>
              <a:gd name="connsiteY2" fmla="*/ 5605714 h 5605714"/>
              <a:gd name="connsiteX3" fmla="*/ 0 w 12204700"/>
              <a:gd name="connsiteY3" fmla="*/ 2341814 h 5605714"/>
              <a:gd name="connsiteX4" fmla="*/ 0 w 12204700"/>
              <a:gd name="connsiteY4" fmla="*/ 1060236 h 5605714"/>
              <a:gd name="connsiteX0" fmla="*/ 12700 w 12217400"/>
              <a:gd name="connsiteY0" fmla="*/ 1060236 h 5605714"/>
              <a:gd name="connsiteX1" fmla="*/ 12204700 w 12217400"/>
              <a:gd name="connsiteY1" fmla="*/ 0 h 5605714"/>
              <a:gd name="connsiteX2" fmla="*/ 12217400 w 12217400"/>
              <a:gd name="connsiteY2" fmla="*/ 5605714 h 5605714"/>
              <a:gd name="connsiteX3" fmla="*/ 0 w 12217400"/>
              <a:gd name="connsiteY3" fmla="*/ 5605714 h 5605714"/>
              <a:gd name="connsiteX4" fmla="*/ 12700 w 12217400"/>
              <a:gd name="connsiteY4" fmla="*/ 1060236 h 5605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7400" h="5605714">
                <a:moveTo>
                  <a:pt x="12700" y="1060236"/>
                </a:moveTo>
                <a:lnTo>
                  <a:pt x="12204700" y="0"/>
                </a:lnTo>
                <a:cubicBezTo>
                  <a:pt x="12208933" y="1868571"/>
                  <a:pt x="12213167" y="3737143"/>
                  <a:pt x="12217400" y="5605714"/>
                </a:cubicBezTo>
                <a:lnTo>
                  <a:pt x="0" y="5605714"/>
                </a:lnTo>
                <a:cubicBezTo>
                  <a:pt x="4233" y="4090555"/>
                  <a:pt x="8467" y="2575395"/>
                  <a:pt x="12700" y="1060236"/>
                </a:cubicBezTo>
                <a:close/>
              </a:path>
            </a:pathLst>
          </a:custGeom>
          <a:solidFill>
            <a:srgbClr val="0092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81ED16B-E150-2345-A958-C57EEF15B8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10802" y="5309086"/>
            <a:ext cx="3643600" cy="1056310"/>
          </a:xfrm>
          <a:prstGeom prst="rect">
            <a:avLst/>
          </a:prstGeom>
          <a:noFill/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BD4A8DCE-B201-3940-9834-07E260718D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1200" y="746092"/>
            <a:ext cx="10185400" cy="2387600"/>
          </a:xfrm>
          <a:prstGeom prst="rect">
            <a:avLst/>
          </a:prstGeom>
        </p:spPr>
        <p:txBody>
          <a:bodyPr anchor="t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5C11B710-CBC4-2847-9FBF-BD14F19C2B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1200" y="3345788"/>
            <a:ext cx="10185400" cy="116930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Whitney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3314738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6278317"/>
            <a:ext cx="12192000" cy="582247"/>
          </a:xfrm>
          <a:prstGeom prst="rect">
            <a:avLst/>
          </a:prstGeom>
          <a:solidFill>
            <a:srgbClr val="008C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3069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600">
                <a:solidFill>
                  <a:schemeClr val="bg1"/>
                </a:solidFill>
                <a:latin typeface="Whitney Medium"/>
              </a:defRPr>
            </a:lvl1pPr>
          </a:lstStyle>
          <a:p>
            <a:fld id="{FA433AC1-22CE-44B0-B8E1-BB17DEC461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51797"/>
          </a:xfrm>
          <a:prstGeom prst="rect">
            <a:avLst/>
          </a:prstGeom>
          <a:solidFill>
            <a:srgbClr val="008C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5" t="10154" r="14801" b="11629"/>
          <a:stretch/>
        </p:blipFill>
        <p:spPr>
          <a:xfrm>
            <a:off x="201314" y="6281704"/>
            <a:ext cx="2334491" cy="54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376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170A41-E445-47AB-9E6B-5CEB0EA0843A}" type="datetime1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Jay 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22B876-4B66-412C-A9DE-01BF581FD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086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tiff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2.tiff"/><Relationship Id="rId7" Type="http://schemas.openxmlformats.org/officeDocument/2006/relationships/customXml" Target="../ink/ink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hyperlink" Target="https://us-east-1.console.aws.amazon.com/s3/object/pr-home-datascience?region=us-east-1&amp;bucketType=general&amp;prefix=Projects/AdHoc/InternProjects/2025/2025FallCapeV5_vs_V4_performance_analysis/PRAC_Historical_PIF_072025_Updated_073125.csv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hyperlink" Target="https://us-east-1.console.aws.amazon.com/s3/object/pr-home-datascience?region=us-east-1&amp;bucketType=general&amp;prefix=Projects/AdHoc/InternProjects/2025/2025FallCapeV5_vs_V4_performance_analysis/PRH_UWLookback_processed_combinedv4v5.csv" TargetMode="Externa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13" Type="http://schemas.openxmlformats.org/officeDocument/2006/relationships/customXml" Target="../ink/ink5.xml"/><Relationship Id="rId3" Type="http://schemas.openxmlformats.org/officeDocument/2006/relationships/image" Target="../media/image2.tiff"/><Relationship Id="rId7" Type="http://schemas.openxmlformats.org/officeDocument/2006/relationships/customXml" Target="../ink/ink2.xml"/><Relationship Id="rId12" Type="http://schemas.openxmlformats.org/officeDocument/2006/relationships/image" Target="../media/image150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customXml" Target="../ink/ink4.xml"/><Relationship Id="rId5" Type="http://schemas.openxmlformats.org/officeDocument/2006/relationships/image" Target="../media/image15.png"/><Relationship Id="rId15" Type="http://schemas.openxmlformats.org/officeDocument/2006/relationships/customXml" Target="../ink/ink6.xml"/><Relationship Id="rId10" Type="http://schemas.openxmlformats.org/officeDocument/2006/relationships/image" Target="../media/image140.png"/><Relationship Id="rId4" Type="http://schemas.openxmlformats.org/officeDocument/2006/relationships/image" Target="../media/image14.png"/><Relationship Id="rId9" Type="http://schemas.openxmlformats.org/officeDocument/2006/relationships/customXml" Target="../ink/ink3.xml"/><Relationship Id="rId14" Type="http://schemas.openxmlformats.org/officeDocument/2006/relationships/image" Target="../media/image16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tiff"/><Relationship Id="rId7" Type="http://schemas.openxmlformats.org/officeDocument/2006/relationships/customXml" Target="../ink/ink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1.png"/><Relationship Id="rId4" Type="http://schemas.openxmlformats.org/officeDocument/2006/relationships/hyperlink" Target="https://us-east-1.console.aws.amazon.com/s3/object/pr-home-datascience?region=us-east-1&amp;bucketType=general&amp;prefix=Projects/AdHoc/InternProjects/2025/2025FallCapeV5_vs_V4_performance_analysis/PRAC_Historical_PIF_072025_Updated_073125_cape_processed_rcrv4.csv.gz" TargetMode="External"/><Relationship Id="rId9" Type="http://schemas.openxmlformats.org/officeDocument/2006/relationships/customXml" Target="../ink/ink8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.tiff"/><Relationship Id="rId7" Type="http://schemas.openxmlformats.org/officeDocument/2006/relationships/customXml" Target="../ink/ink9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hyperlink" Target="https://us-east-1.console.aws.amazon.com/s3/object/pr-home-datascience?region=us-east-1&amp;bucketType=general&amp;prefix=Projects/AdHoc/InternProjects/2025/2025FallCapeV5_vs_V4_performance_analysis/PRAC_Historical_PIF_072025_Updated_073125_cape_processed_rcrv5.csv.gz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E7D39-EF11-0344-8055-648D193803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Fall Intern: </a:t>
            </a:r>
            <a:r>
              <a:rPr lang="en-US" sz="4800" dirty="0">
                <a:effectLst/>
                <a:latin typeface="Calibri Light" panose="020F0302020204030204" pitchFamily="34" charset="0"/>
              </a:rPr>
              <a:t>Cape V4V5 performance</a:t>
            </a:r>
            <a:br>
              <a:rPr lang="en-US" sz="4800" dirty="0">
                <a:effectLst/>
                <a:latin typeface="Calibri Light" panose="020F0302020204030204" pitchFamily="34" charset="0"/>
              </a:rPr>
            </a:b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CC5D53-4122-7346-B54E-8A61CEBF5D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Wei Zhang</a:t>
            </a:r>
          </a:p>
        </p:txBody>
      </p:sp>
    </p:spTree>
    <p:extLst>
      <p:ext uri="{BB962C8B-B14F-4D97-AF65-F5344CB8AC3E}">
        <p14:creationId xmlns:p14="http://schemas.microsoft.com/office/powerpoint/2010/main" val="2774411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6275753"/>
            <a:ext cx="12192000" cy="582247"/>
            <a:chOff x="0" y="6275753"/>
            <a:chExt cx="12192000" cy="582247"/>
          </a:xfrm>
        </p:grpSpPr>
        <p:sp>
          <p:nvSpPr>
            <p:cNvPr id="4" name="Rectangle 3"/>
            <p:cNvSpPr/>
            <p:nvPr/>
          </p:nvSpPr>
          <p:spPr>
            <a:xfrm>
              <a:off x="0" y="6275753"/>
              <a:ext cx="12192000" cy="582247"/>
            </a:xfrm>
            <a:prstGeom prst="rect">
              <a:avLst/>
            </a:prstGeom>
            <a:solidFill>
              <a:srgbClr val="008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45" t="10154" r="14801" b="11629"/>
            <a:stretch/>
          </p:blipFill>
          <p:spPr>
            <a:xfrm>
              <a:off x="41658" y="6306775"/>
              <a:ext cx="2334491" cy="541479"/>
            </a:xfrm>
            <a:prstGeom prst="rect">
              <a:avLst/>
            </a:prstGeom>
          </p:spPr>
        </p:pic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z="2000" smtClean="0">
                <a:solidFill>
                  <a:schemeClr val="bg1"/>
                </a:solidFill>
              </a:rPr>
              <a:t>2</a:t>
            </a:fld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3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2000" dirty="0">
                <a:solidFill>
                  <a:schemeClr val="bg1"/>
                </a:solidFill>
              </a:rPr>
              <a:t>Wei Zhang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2698" y="505538"/>
            <a:ext cx="52258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</a:rPr>
              <a:t>Outline</a:t>
            </a: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1332698" y="1579589"/>
            <a:ext cx="6150279" cy="2934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 algn="l">
              <a:buAutoNum type="arabicPeriod"/>
            </a:pPr>
            <a:r>
              <a:rPr lang="en-US" sz="3200" dirty="0"/>
              <a:t>Objectives</a:t>
            </a:r>
          </a:p>
          <a:p>
            <a:pPr marL="514350" indent="-514350" algn="l">
              <a:buAutoNum type="arabicPeriod"/>
            </a:pPr>
            <a:r>
              <a:rPr lang="en-US" sz="3200" dirty="0"/>
              <a:t>Model build</a:t>
            </a:r>
          </a:p>
          <a:p>
            <a:pPr algn="l"/>
            <a:r>
              <a:rPr lang="en-US" sz="3200" dirty="0"/>
              <a:t>2. Results</a:t>
            </a:r>
          </a:p>
          <a:p>
            <a:pPr algn="l"/>
            <a:r>
              <a:rPr lang="en-US" sz="3200" dirty="0"/>
              <a:t>3. Conclusion and Future work</a:t>
            </a:r>
          </a:p>
        </p:txBody>
      </p:sp>
    </p:spTree>
    <p:extLst>
      <p:ext uri="{BB962C8B-B14F-4D97-AF65-F5344CB8AC3E}">
        <p14:creationId xmlns:p14="http://schemas.microsoft.com/office/powerpoint/2010/main" val="3017291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DE3AE-F647-B359-A27A-F0ADF06CF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0BEE5E3-CE64-36C3-29E1-8B994833E1C3}"/>
              </a:ext>
            </a:extLst>
          </p:cNvPr>
          <p:cNvGrpSpPr/>
          <p:nvPr/>
        </p:nvGrpSpPr>
        <p:grpSpPr>
          <a:xfrm>
            <a:off x="0" y="6275753"/>
            <a:ext cx="12192000" cy="582247"/>
            <a:chOff x="0" y="6275753"/>
            <a:chExt cx="12192000" cy="58224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9074BB7-4073-24C4-8840-F2667A1A09B4}"/>
                </a:ext>
              </a:extLst>
            </p:cNvPr>
            <p:cNvSpPr/>
            <p:nvPr/>
          </p:nvSpPr>
          <p:spPr>
            <a:xfrm>
              <a:off x="0" y="6275753"/>
              <a:ext cx="12192000" cy="582247"/>
            </a:xfrm>
            <a:prstGeom prst="rect">
              <a:avLst/>
            </a:prstGeom>
            <a:solidFill>
              <a:srgbClr val="008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9596354-6BD6-180C-E503-8E6F341919B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45" t="10154" r="14801" b="11629"/>
            <a:stretch/>
          </p:blipFill>
          <p:spPr>
            <a:xfrm>
              <a:off x="41658" y="6306775"/>
              <a:ext cx="2334491" cy="541479"/>
            </a:xfrm>
            <a:prstGeom prst="rect">
              <a:avLst/>
            </a:prstGeom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84FBB4-89B0-3025-F7B0-E55C3B2E8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z="2000" smtClean="0">
                <a:solidFill>
                  <a:schemeClr val="bg1"/>
                </a:solidFill>
              </a:rPr>
              <a:t>3</a:t>
            </a:fld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3" name="Footer Placeholder 9">
            <a:extLst>
              <a:ext uri="{FF2B5EF4-FFF2-40B4-BE49-F238E27FC236}">
                <a16:creationId xmlns:a16="http://schemas.microsoft.com/office/drawing/2014/main" id="{3401B8BC-3392-F698-C087-245F81DAE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2000" dirty="0">
                <a:solidFill>
                  <a:schemeClr val="bg1"/>
                </a:solidFill>
              </a:rPr>
              <a:t>Wei Zhang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3E0C15-C779-10F9-F502-6DF4351825B6}"/>
              </a:ext>
            </a:extLst>
          </p:cNvPr>
          <p:cNvSpPr txBox="1"/>
          <p:nvPr/>
        </p:nvSpPr>
        <p:spPr>
          <a:xfrm>
            <a:off x="0" y="9746"/>
            <a:ext cx="11804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</a:rPr>
              <a:t>Objective: V4 and V5 Cape data performance on model 1.40</a:t>
            </a:r>
            <a:endParaRPr lang="en-US" sz="32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5365EB27-668A-0FB2-EF0B-D29C252E2E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61871755"/>
              </p:ext>
            </p:extLst>
          </p:nvPr>
        </p:nvGraphicFramePr>
        <p:xfrm>
          <a:off x="41659" y="1875665"/>
          <a:ext cx="12150342" cy="41011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4F30D33-3702-FEF6-2F94-BCE49ADBB92C}"/>
              </a:ext>
            </a:extLst>
          </p:cNvPr>
          <p:cNvSpPr txBox="1"/>
          <p:nvPr/>
        </p:nvSpPr>
        <p:spPr>
          <a:xfrm>
            <a:off x="0" y="881150"/>
            <a:ext cx="1219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Cape data has updated from Version 4 to Version 5 in 2025.  We try to </a:t>
            </a:r>
            <a:r>
              <a:rPr lang="en-US" sz="24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answer the following critical questions:</a:t>
            </a:r>
            <a:endParaRPr lang="en-US" sz="24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209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5A232-6C8A-00FC-7FE3-CE4099E3F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E527DC-CE3D-2AC2-D6E3-D29F09F50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33AC1-22CE-44B0-B8E1-BB17DEC4617F}" type="slidenum">
              <a:rPr lang="en-US" smtClean="0">
                <a:latin typeface="+mn-lt"/>
              </a:rPr>
              <a:pPr/>
              <a:t>4</a:t>
            </a:fld>
            <a:endParaRPr lang="en-US" dirty="0">
              <a:latin typeface="+mn-lt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CCEB59B-A397-4648-BFA1-2F717B818182}"/>
              </a:ext>
            </a:extLst>
          </p:cNvPr>
          <p:cNvSpPr txBox="1">
            <a:spLocks/>
          </p:cNvSpPr>
          <p:nvPr/>
        </p:nvSpPr>
        <p:spPr>
          <a:xfrm>
            <a:off x="94129" y="162841"/>
            <a:ext cx="11213841" cy="6165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Cape V4 and V5 share similar features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410EF4-4937-3FEC-1B7D-7FD61F624CEF}"/>
              </a:ext>
            </a:extLst>
          </p:cNvPr>
          <p:cNvSpPr txBox="1"/>
          <p:nvPr/>
        </p:nvSpPr>
        <p:spPr>
          <a:xfrm>
            <a:off x="544284" y="1070206"/>
            <a:ext cx="11647715" cy="256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Cape data show consistency both in May and July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except that May contains ‘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effective_date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’ while July contains ‘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cape_run_dt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’.</a:t>
            </a:r>
          </a:p>
          <a:p>
            <a:pPr marL="342900" indent="-3429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Features with ‘hail’, ‘pool’, ‘zone’, ‘wildfire’, or ‘yard’ are not included in Version 5, which Cape will deliver in production (not used).</a:t>
            </a:r>
          </a:p>
          <a:p>
            <a:pPr marL="342900" indent="-3429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Cape V5 gives some new roof features, such as ‘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cape_roof_effluent_runoff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’, ‘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cape_roof_rusting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’, ‘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cape_roof_sealing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’, etc.</a:t>
            </a:r>
            <a:endParaRPr lang="en-US" sz="24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D7B36B8-4140-8E84-1CE5-3C47B86F21FF}"/>
              </a:ext>
            </a:extLst>
          </p:cNvPr>
          <p:cNvGrpSpPr/>
          <p:nvPr/>
        </p:nvGrpSpPr>
        <p:grpSpPr>
          <a:xfrm>
            <a:off x="1196835" y="3791544"/>
            <a:ext cx="12660680" cy="2564805"/>
            <a:chOff x="772291" y="2709961"/>
            <a:chExt cx="13130309" cy="277815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82E689F-CD43-5B60-E1E9-6DBB1E1B90B9}"/>
                </a:ext>
              </a:extLst>
            </p:cNvPr>
            <p:cNvSpPr/>
            <p:nvPr/>
          </p:nvSpPr>
          <p:spPr>
            <a:xfrm>
              <a:off x="3686746" y="2791984"/>
              <a:ext cx="2633574" cy="2534144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4796C682-A1FF-D4B7-1CD3-9F812AB098DE}"/>
                </a:ext>
              </a:extLst>
            </p:cNvPr>
            <p:cNvGrpSpPr/>
            <p:nvPr/>
          </p:nvGrpSpPr>
          <p:grpSpPr>
            <a:xfrm>
              <a:off x="772291" y="2791984"/>
              <a:ext cx="13130309" cy="2696127"/>
              <a:chOff x="772291" y="2791984"/>
              <a:chExt cx="13130309" cy="2696127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8D8A9CDB-8822-A178-355B-ACE11F9410A8}"/>
                  </a:ext>
                </a:extLst>
              </p:cNvPr>
              <p:cNvGrpSpPr/>
              <p:nvPr/>
            </p:nvGrpSpPr>
            <p:grpSpPr>
              <a:xfrm>
                <a:off x="3814084" y="2791984"/>
                <a:ext cx="4610071" cy="2696127"/>
                <a:chOff x="7699037" y="370622"/>
                <a:chExt cx="4610071" cy="2696127"/>
              </a:xfrm>
            </p:grpSpPr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392C5FA9-B513-3FDD-D0D3-54C062E682D6}"/>
                    </a:ext>
                  </a:extLst>
                </p:cNvPr>
                <p:cNvSpPr/>
                <p:nvPr/>
              </p:nvSpPr>
              <p:spPr>
                <a:xfrm>
                  <a:off x="7703247" y="512177"/>
                  <a:ext cx="2502026" cy="2392589"/>
                </a:xfrm>
                <a:prstGeom prst="ellipse">
                  <a:avLst/>
                </a:prstGeom>
                <a:solidFill>
                  <a:schemeClr val="accent1">
                    <a:lumMod val="75000"/>
                    <a:alpha val="50000"/>
                  </a:schemeClr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BDEBBC42-4E94-C51A-5245-04A64A167C49}"/>
                    </a:ext>
                  </a:extLst>
                </p:cNvPr>
                <p:cNvSpPr/>
                <p:nvPr/>
              </p:nvSpPr>
              <p:spPr>
                <a:xfrm>
                  <a:off x="8745754" y="370622"/>
                  <a:ext cx="2633575" cy="2696127"/>
                </a:xfrm>
                <a:prstGeom prst="ellipse">
                  <a:avLst/>
                </a:prstGeom>
                <a:solidFill>
                  <a:schemeClr val="accent1">
                    <a:lumMod val="75000"/>
                    <a:alpha val="50000"/>
                  </a:schemeClr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6F6B2F43-FB36-A914-A378-EC027CCC3FA2}"/>
                    </a:ext>
                  </a:extLst>
                </p:cNvPr>
                <p:cNvSpPr txBox="1"/>
                <p:nvPr/>
              </p:nvSpPr>
              <p:spPr>
                <a:xfrm>
                  <a:off x="7699037" y="1211918"/>
                  <a:ext cx="1105933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bg1"/>
                      </a:solidFill>
                    </a:rPr>
                    <a:t>33 features only in V4</a:t>
                  </a:r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B5798AD2-0BA4-CB8F-D5CA-2E1BDC1B0638}"/>
                    </a:ext>
                  </a:extLst>
                </p:cNvPr>
                <p:cNvSpPr txBox="1"/>
                <p:nvPr/>
              </p:nvSpPr>
              <p:spPr>
                <a:xfrm>
                  <a:off x="8885846" y="1357019"/>
                  <a:ext cx="1708293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>
                      <a:solidFill>
                        <a:schemeClr val="bg1"/>
                      </a:solidFill>
                    </a:rPr>
                    <a:t>70 common features</a:t>
                  </a:r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53A7299C-CBCF-0AF9-A2FF-50B4F6B4020F}"/>
                    </a:ext>
                  </a:extLst>
                </p:cNvPr>
                <p:cNvSpPr txBox="1"/>
                <p:nvPr/>
              </p:nvSpPr>
              <p:spPr>
                <a:xfrm>
                  <a:off x="10205272" y="1451492"/>
                  <a:ext cx="2103836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bg1"/>
                      </a:solidFill>
                    </a:rPr>
                    <a:t>48 features</a:t>
                  </a:r>
                </a:p>
                <a:p>
                  <a:r>
                    <a:rPr lang="en-US" sz="1600" b="1" dirty="0">
                      <a:solidFill>
                        <a:schemeClr val="bg1"/>
                      </a:solidFill>
                    </a:rPr>
                    <a:t>Only in V5</a:t>
                  </a:r>
                </a:p>
              </p:txBody>
            </p:sp>
          </p:grp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1A1A02F-502D-A241-E4DD-C69372889512}"/>
                  </a:ext>
                </a:extLst>
              </p:cNvPr>
              <p:cNvSpPr txBox="1"/>
              <p:nvPr/>
            </p:nvSpPr>
            <p:spPr>
              <a:xfrm>
                <a:off x="7806600" y="4712037"/>
                <a:ext cx="6096000" cy="3354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800"/>
                  </a:lnSpc>
                  <a:spcBef>
                    <a:spcPts val="500"/>
                  </a:spcBef>
                  <a:spcAft>
                    <a:spcPts val="500"/>
                  </a:spcAft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118 features in V5. 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BB4B3BE-0DD0-2541-7881-DBFF38BDDD24}"/>
                  </a:ext>
                </a:extLst>
              </p:cNvPr>
              <p:cNvSpPr txBox="1"/>
              <p:nvPr/>
            </p:nvSpPr>
            <p:spPr>
              <a:xfrm>
                <a:off x="772291" y="4368287"/>
                <a:ext cx="270623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103 features in V4</a:t>
                </a:r>
                <a:endParaRPr lang="en-US" sz="2400" dirty="0"/>
              </a:p>
            </p:txBody>
          </p:sp>
        </p:grp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F27722E-9F57-8CCC-C571-32A81EEB3F0D}"/>
                </a:ext>
              </a:extLst>
            </p:cNvPr>
            <p:cNvSpPr/>
            <p:nvPr/>
          </p:nvSpPr>
          <p:spPr>
            <a:xfrm>
              <a:off x="4805795" y="2709961"/>
              <a:ext cx="2839075" cy="2710686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Footer Placeholder 9">
            <a:extLst>
              <a:ext uri="{FF2B5EF4-FFF2-40B4-BE49-F238E27FC236}">
                <a16:creationId xmlns:a16="http://schemas.microsoft.com/office/drawing/2014/main" id="{70655C71-3DA1-BA7A-B2A6-45624CAA555F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chemeClr val="bg1"/>
                </a:solidFill>
              </a:rPr>
              <a:t>Wei Zhang</a:t>
            </a:r>
          </a:p>
        </p:txBody>
      </p:sp>
    </p:spTree>
    <p:extLst>
      <p:ext uri="{BB962C8B-B14F-4D97-AF65-F5344CB8AC3E}">
        <p14:creationId xmlns:p14="http://schemas.microsoft.com/office/powerpoint/2010/main" val="1998234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33AC1-22CE-44B0-B8E1-BB17DEC4617F}" type="slidenum">
              <a:rPr lang="en-US" smtClean="0">
                <a:latin typeface="+mn-lt"/>
              </a:rPr>
              <a:pPr/>
              <a:t>5</a:t>
            </a:fld>
            <a:endParaRPr lang="en-US" dirty="0">
              <a:latin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8110" y="779368"/>
            <a:ext cx="113984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Sample choices</a:t>
            </a:r>
          </a:p>
          <a:p>
            <a:pPr marL="1257300" lvl="2" indent="-342900">
              <a:buFont typeface="Arial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Only HO3 and no highpoint.</a:t>
            </a:r>
          </a:p>
          <a:p>
            <a:pPr marL="1257300" lvl="2" indent="-342900">
              <a:buFont typeface="Arial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Baseline (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model score v1.40) samples</a:t>
            </a:r>
            <a:r>
              <a:rPr lang="en-US" sz="24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are earlier than 2023-6.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94129" y="162841"/>
            <a:ext cx="11213841" cy="6165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PRAC loss samples are matched with Cape and baseline</a:t>
            </a: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76255896"/>
              </p:ext>
            </p:extLst>
          </p:nvPr>
        </p:nvGraphicFramePr>
        <p:xfrm>
          <a:off x="302504" y="1979697"/>
          <a:ext cx="10779153" cy="43766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78E1663-71D7-1155-8849-49239EA51911}"/>
              </a:ext>
            </a:extLst>
          </p:cNvPr>
          <p:cNvSpPr txBox="1"/>
          <p:nvPr/>
        </p:nvSpPr>
        <p:spPr>
          <a:xfrm>
            <a:off x="4300519" y="2123426"/>
            <a:ext cx="3705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Water fall of model samples selection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B99B436-82C0-98A2-9EC2-027A1CBDA351}"/>
              </a:ext>
            </a:extLst>
          </p:cNvPr>
          <p:cNvSpPr/>
          <p:nvPr/>
        </p:nvSpPr>
        <p:spPr>
          <a:xfrm>
            <a:off x="9492882" y="4541696"/>
            <a:ext cx="1204147" cy="1228650"/>
          </a:xfrm>
          <a:prstGeom prst="ellipse">
            <a:avLst/>
          </a:prstGeom>
          <a:solidFill>
            <a:srgbClr val="92D050">
              <a:alpha val="16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ooter Placeholder 9">
            <a:extLst>
              <a:ext uri="{FF2B5EF4-FFF2-40B4-BE49-F238E27FC236}">
                <a16:creationId xmlns:a16="http://schemas.microsoft.com/office/drawing/2014/main" id="{1338AE37-777F-B6FD-834C-F56ADB62376E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chemeClr val="bg1"/>
                </a:solidFill>
              </a:rPr>
              <a:t>Wei Zhang</a:t>
            </a:r>
          </a:p>
        </p:txBody>
      </p:sp>
    </p:spTree>
    <p:extLst>
      <p:ext uri="{BB962C8B-B14F-4D97-AF65-F5344CB8AC3E}">
        <p14:creationId xmlns:p14="http://schemas.microsoft.com/office/powerpoint/2010/main" val="1437597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B2C86-858B-B074-2D6A-B75F63C13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F27D8E-5AAC-8880-C16A-F3A157FA4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33AC1-22CE-44B0-B8E1-BB17DEC4617F}" type="slidenum">
              <a:rPr lang="en-US" smtClean="0">
                <a:latin typeface="+mn-lt"/>
              </a:rPr>
              <a:pPr/>
              <a:t>6</a:t>
            </a:fld>
            <a:endParaRPr lang="en-US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12ACAA-DBD0-1D73-67AA-425C7CA59F17}"/>
              </a:ext>
            </a:extLst>
          </p:cNvPr>
          <p:cNvSpPr txBox="1"/>
          <p:nvPr/>
        </p:nvSpPr>
        <p:spPr>
          <a:xfrm>
            <a:off x="3497575" y="1150668"/>
            <a:ext cx="11398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5">
                    <a:lumMod val="75000"/>
                  </a:schemeClr>
                </a:solidFill>
              </a:rPr>
              <a:t>Exploratory Data Analysis (EDA) before modeling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D8D4EDE-8CE1-3874-EB48-F3572A141177}"/>
              </a:ext>
            </a:extLst>
          </p:cNvPr>
          <p:cNvSpPr txBox="1">
            <a:spLocks/>
          </p:cNvSpPr>
          <p:nvPr/>
        </p:nvSpPr>
        <p:spPr>
          <a:xfrm>
            <a:off x="94129" y="162841"/>
            <a:ext cx="11213841" cy="6165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Cape V5 roof rating seems to have a better slope on PP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0E05DB-BA79-C3B8-77D4-B143D91B9EAD}"/>
              </a:ext>
            </a:extLst>
          </p:cNvPr>
          <p:cNvSpPr txBox="1"/>
          <p:nvPr/>
        </p:nvSpPr>
        <p:spPr>
          <a:xfrm>
            <a:off x="128994" y="5097920"/>
            <a:ext cx="11647715" cy="836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Rating 1 has significant difference distribution between V4 and V5, from 26% in V4 to 18 % in V5.</a:t>
            </a:r>
          </a:p>
          <a:p>
            <a:pPr marL="342900" indent="-3429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Adj_PP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is over $1,400 in V4 and $1,247 in V5.</a:t>
            </a:r>
            <a:endParaRPr lang="en-US" sz="20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0D651451-E6EE-46E7-C50B-9AEE027A66E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81636880"/>
              </p:ext>
            </p:extLst>
          </p:nvPr>
        </p:nvGraphicFramePr>
        <p:xfrm>
          <a:off x="6201588" y="1612334"/>
          <a:ext cx="5990411" cy="34855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CFE4F453-C2BA-E5BB-6456-9CA871088C1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46165708"/>
              </p:ext>
            </p:extLst>
          </p:nvPr>
        </p:nvGraphicFramePr>
        <p:xfrm>
          <a:off x="-1" y="1612334"/>
          <a:ext cx="6201589" cy="34855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Oval 12">
            <a:extLst>
              <a:ext uri="{FF2B5EF4-FFF2-40B4-BE49-F238E27FC236}">
                <a16:creationId xmlns:a16="http://schemas.microsoft.com/office/drawing/2014/main" id="{E23748DC-1CDC-DE89-52B8-466277A14507}"/>
              </a:ext>
            </a:extLst>
          </p:cNvPr>
          <p:cNvSpPr/>
          <p:nvPr/>
        </p:nvSpPr>
        <p:spPr>
          <a:xfrm rot="1465362">
            <a:off x="6655791" y="3050618"/>
            <a:ext cx="4267200" cy="756761"/>
          </a:xfrm>
          <a:prstGeom prst="ellipse">
            <a:avLst/>
          </a:prstGeom>
          <a:solidFill>
            <a:srgbClr val="92D050">
              <a:alpha val="15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Footer Placeholder 9">
            <a:extLst>
              <a:ext uri="{FF2B5EF4-FFF2-40B4-BE49-F238E27FC236}">
                <a16:creationId xmlns:a16="http://schemas.microsoft.com/office/drawing/2014/main" id="{273C0935-D155-5DB8-FF81-0DE0A0FD8229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chemeClr val="bg1"/>
                </a:solidFill>
              </a:rPr>
              <a:t>Wei Zhang</a:t>
            </a:r>
          </a:p>
        </p:txBody>
      </p:sp>
    </p:spTree>
    <p:extLst>
      <p:ext uri="{BB962C8B-B14F-4D97-AF65-F5344CB8AC3E}">
        <p14:creationId xmlns:p14="http://schemas.microsoft.com/office/powerpoint/2010/main" val="559764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DCE7E9-429F-8DF9-614C-B87BE5C7A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FA433AC1-22CE-44B0-B8E1-BB17DEC4617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2D443C-92A9-FCE9-FA41-C9DC44291F9F}"/>
              </a:ext>
            </a:extLst>
          </p:cNvPr>
          <p:cNvSpPr txBox="1"/>
          <p:nvPr/>
        </p:nvSpPr>
        <p:spPr>
          <a:xfrm>
            <a:off x="519792" y="4790106"/>
            <a:ext cx="1157423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Year, state, legacy are stratified distributed.</a:t>
            </a:r>
          </a:p>
          <a:p>
            <a:pPr marL="342900" marR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The average severity and loss ratio of Test dataset is the least, which is still reasonable.</a:t>
            </a:r>
          </a:p>
          <a:p>
            <a:pPr marL="342900" marR="0" indent="-34290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48F9849-B258-87F8-CB7C-7508548EC1DB}"/>
              </a:ext>
            </a:extLst>
          </p:cNvPr>
          <p:cNvSpPr txBox="1">
            <a:spLocks/>
          </p:cNvSpPr>
          <p:nvPr/>
        </p:nvSpPr>
        <p:spPr>
          <a:xfrm>
            <a:off x="0" y="287059"/>
            <a:ext cx="11213841" cy="6165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Sample design follows DS standard procedure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5B6022A-3C4B-2734-9CC9-CE0E23EFDA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9063287"/>
              </p:ext>
            </p:extLst>
          </p:nvPr>
        </p:nvGraphicFramePr>
        <p:xfrm>
          <a:off x="250372" y="1404595"/>
          <a:ext cx="11843657" cy="28411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44705">
                  <a:extLst>
                    <a:ext uri="{9D8B030D-6E8A-4147-A177-3AD203B41FA5}">
                      <a16:colId xmlns:a16="http://schemas.microsoft.com/office/drawing/2014/main" val="2614231228"/>
                    </a:ext>
                  </a:extLst>
                </a:gridCol>
                <a:gridCol w="1077696">
                  <a:extLst>
                    <a:ext uri="{9D8B030D-6E8A-4147-A177-3AD203B41FA5}">
                      <a16:colId xmlns:a16="http://schemas.microsoft.com/office/drawing/2014/main" val="2077485462"/>
                    </a:ext>
                  </a:extLst>
                </a:gridCol>
                <a:gridCol w="1077696">
                  <a:extLst>
                    <a:ext uri="{9D8B030D-6E8A-4147-A177-3AD203B41FA5}">
                      <a16:colId xmlns:a16="http://schemas.microsoft.com/office/drawing/2014/main" val="1716206922"/>
                    </a:ext>
                  </a:extLst>
                </a:gridCol>
                <a:gridCol w="1462587">
                  <a:extLst>
                    <a:ext uri="{9D8B030D-6E8A-4147-A177-3AD203B41FA5}">
                      <a16:colId xmlns:a16="http://schemas.microsoft.com/office/drawing/2014/main" val="3064484759"/>
                    </a:ext>
                  </a:extLst>
                </a:gridCol>
                <a:gridCol w="1462587">
                  <a:extLst>
                    <a:ext uri="{9D8B030D-6E8A-4147-A177-3AD203B41FA5}">
                      <a16:colId xmlns:a16="http://schemas.microsoft.com/office/drawing/2014/main" val="2204855583"/>
                    </a:ext>
                  </a:extLst>
                </a:gridCol>
                <a:gridCol w="1693522">
                  <a:extLst>
                    <a:ext uri="{9D8B030D-6E8A-4147-A177-3AD203B41FA5}">
                      <a16:colId xmlns:a16="http://schemas.microsoft.com/office/drawing/2014/main" val="3412833803"/>
                    </a:ext>
                  </a:extLst>
                </a:gridCol>
                <a:gridCol w="1671528">
                  <a:extLst>
                    <a:ext uri="{9D8B030D-6E8A-4147-A177-3AD203B41FA5}">
                      <a16:colId xmlns:a16="http://schemas.microsoft.com/office/drawing/2014/main" val="160528381"/>
                    </a:ext>
                  </a:extLst>
                </a:gridCol>
                <a:gridCol w="2353336">
                  <a:extLst>
                    <a:ext uri="{9D8B030D-6E8A-4147-A177-3AD203B41FA5}">
                      <a16:colId xmlns:a16="http://schemas.microsoft.com/office/drawing/2014/main" val="1126721586"/>
                    </a:ext>
                  </a:extLst>
                </a:gridCol>
              </a:tblGrid>
              <a:tr h="1456238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Dataset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82" marR="4882" marT="4882" marB="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Total_Policies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82" marR="4882" marT="4882" marB="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 err="1">
                          <a:effectLst/>
                        </a:rPr>
                        <a:t>Sum_EE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82" marR="4882" marT="4882" marB="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Overall PP_adj (NCAT_adj/EE)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82" marR="4882" marT="4882" marB="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Avg_EE_per_Policy (ee/#)</a:t>
                      </a:r>
                      <a:endParaRPr lang="es-E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82" marR="4882" marT="4882" marB="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Overall </a:t>
                      </a:r>
                      <a:r>
                        <a:rPr lang="en-US" sz="1800" u="none" strike="noStrike" dirty="0" err="1">
                          <a:effectLst/>
                        </a:rPr>
                        <a:t>Claim_Frequency_adj</a:t>
                      </a:r>
                      <a:r>
                        <a:rPr lang="en-US" sz="1800" u="none" strike="noStrike" dirty="0">
                          <a:effectLst/>
                        </a:rPr>
                        <a:t> (</a:t>
                      </a:r>
                      <a:r>
                        <a:rPr lang="en-US" sz="1800" u="none" strike="noStrike" dirty="0" err="1">
                          <a:effectLst/>
                        </a:rPr>
                        <a:t>ncat_cnt</a:t>
                      </a:r>
                      <a:r>
                        <a:rPr lang="en-US" sz="1800" u="none" strike="noStrike" dirty="0">
                          <a:effectLst/>
                        </a:rPr>
                        <a:t>/ee)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82" marR="4882" marT="4882" marB="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Overall Avg_Severity_adj (ncat_adj/ncat_cnt)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82" marR="4882" marT="4882" marB="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Loss_Ratio_adj (NCAT_adj/EPRM)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82" marR="4882" marT="4882" marB="0"/>
                </a:tc>
                <a:extLst>
                  <a:ext uri="{0D108BD9-81ED-4DB2-BD59-A6C34878D82A}">
                    <a16:rowId xmlns:a16="http://schemas.microsoft.com/office/drawing/2014/main" val="720173683"/>
                  </a:ext>
                </a:extLst>
              </a:tr>
              <a:tr h="497575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Train (0.5)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82" marR="4882" marT="4882" marB="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409,353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82" marR="4882" marT="4882" marB="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387,529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82" marR="4882" marT="4882" marB="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$926.70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82" marR="4882" marT="4882" marB="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0.947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82" marR="4882" marT="4882" marB="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0.033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82" marR="4882" marT="4882" marB="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$28,472.32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82" marR="4882" marT="4882" marB="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64.11%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82" marR="4882" marT="4882" marB="0"/>
                </a:tc>
                <a:extLst>
                  <a:ext uri="{0D108BD9-81ED-4DB2-BD59-A6C34878D82A}">
                    <a16:rowId xmlns:a16="http://schemas.microsoft.com/office/drawing/2014/main" val="3144710746"/>
                  </a:ext>
                </a:extLst>
              </a:tr>
              <a:tr h="436896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Valid (0.2)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82" marR="4882" marT="4882" marB="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175,438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82" marR="4882" marT="4882" marB="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166,166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82" marR="4882" marT="4882" marB="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$1,015.06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82" marR="4882" marT="4882" marB="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0.947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82" marR="4882" marT="4882" marB="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0.033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82" marR="4882" marT="4882" marB="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$30,852.16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82" marR="4882" marT="4882" marB="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70.10%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82" marR="4882" marT="4882" marB="0"/>
                </a:tc>
                <a:extLst>
                  <a:ext uri="{0D108BD9-81ED-4DB2-BD59-A6C34878D82A}">
                    <a16:rowId xmlns:a16="http://schemas.microsoft.com/office/drawing/2014/main" val="1451378165"/>
                  </a:ext>
                </a:extLst>
              </a:tr>
              <a:tr h="450392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Test (0.3)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82" marR="4882" marT="4882" marB="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248,953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82" marR="4882" marT="4882" marB="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235,599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82" marR="4882" marT="4882" marB="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$882.60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82" marR="4882" marT="4882" marB="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0.946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82" marR="4882" marT="4882" marB="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0.033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82" marR="4882" marT="4882" marB="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$26,600.99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82" marR="4882" marT="4882" marB="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60.99%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82" marR="4882" marT="4882" marB="0"/>
                </a:tc>
                <a:extLst>
                  <a:ext uri="{0D108BD9-81ED-4DB2-BD59-A6C34878D82A}">
                    <a16:rowId xmlns:a16="http://schemas.microsoft.com/office/drawing/2014/main" val="4223896283"/>
                  </a:ext>
                </a:extLst>
              </a:tr>
            </a:tbl>
          </a:graphicData>
        </a:graphic>
      </p:graphicFrame>
      <p:sp>
        <p:nvSpPr>
          <p:cNvPr id="3" name="Footer Placeholder 9">
            <a:extLst>
              <a:ext uri="{FF2B5EF4-FFF2-40B4-BE49-F238E27FC236}">
                <a16:creationId xmlns:a16="http://schemas.microsoft.com/office/drawing/2014/main" id="{B617681D-0EC7-4CA9-15C0-1347A286AF5E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chemeClr val="bg1"/>
                </a:solidFill>
              </a:rPr>
              <a:t>Wei Zhang</a:t>
            </a:r>
          </a:p>
        </p:txBody>
      </p:sp>
    </p:spTree>
    <p:extLst>
      <p:ext uri="{BB962C8B-B14F-4D97-AF65-F5344CB8AC3E}">
        <p14:creationId xmlns:p14="http://schemas.microsoft.com/office/powerpoint/2010/main" val="2179346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69C8D-073F-C0B6-A20A-F6D6DC68F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B030BA-DB8D-0CEA-BE6F-760693909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33AC1-22CE-44B0-B8E1-BB17DEC4617F}" type="slidenum">
              <a:rPr lang="en-US" smtClean="0">
                <a:latin typeface="+mn-lt"/>
              </a:rPr>
              <a:pPr/>
              <a:t>8</a:t>
            </a:fld>
            <a:endParaRPr lang="en-US" dirty="0">
              <a:latin typeface="+mn-lt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1455777-E7B7-7D30-687F-5180AE44E13F}"/>
              </a:ext>
            </a:extLst>
          </p:cNvPr>
          <p:cNvSpPr txBox="1">
            <a:spLocks/>
          </p:cNvSpPr>
          <p:nvPr/>
        </p:nvSpPr>
        <p:spPr>
          <a:xfrm>
            <a:off x="94129" y="162841"/>
            <a:ext cx="11213841" cy="6165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Selected features examples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075758-CF68-BC7F-69D5-2B19E4C0E477}"/>
              </a:ext>
            </a:extLst>
          </p:cNvPr>
          <p:cNvSpPr txBox="1"/>
          <p:nvPr/>
        </p:nvSpPr>
        <p:spPr>
          <a:xfrm>
            <a:off x="94129" y="1059320"/>
            <a:ext cx="11647715" cy="2195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 exclude id, address, time, source,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url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and response relevant variables in our features (X). </a:t>
            </a:r>
          </a:p>
          <a:p>
            <a:pPr marL="342900" indent="-3429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Finally, there are 24 features used in V4, including 11 categorical ones. There are 33 features used in V5, including 16 categorical ones. </a:t>
            </a:r>
          </a:p>
          <a:p>
            <a:pPr marL="342900" indent="-3429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Some examples of V4 features:</a:t>
            </a:r>
          </a:p>
        </p:txBody>
      </p:sp>
      <p:graphicFrame>
        <p:nvGraphicFramePr>
          <p:cNvPr id="6" name="Content Placeholder 11">
            <a:extLst>
              <a:ext uri="{FF2B5EF4-FFF2-40B4-BE49-F238E27FC236}">
                <a16:creationId xmlns:a16="http://schemas.microsoft.com/office/drawing/2014/main" id="{D71760EC-243B-032C-3140-5453F29334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70057830"/>
              </p:ext>
            </p:extLst>
          </p:nvPr>
        </p:nvGraphicFramePr>
        <p:xfrm>
          <a:off x="381695" y="3265643"/>
          <a:ext cx="11647715" cy="21587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5050938">
                  <a:extLst>
                    <a:ext uri="{9D8B030D-6E8A-4147-A177-3AD203B41FA5}">
                      <a16:colId xmlns:a16="http://schemas.microsoft.com/office/drawing/2014/main" val="1796784992"/>
                    </a:ext>
                  </a:extLst>
                </a:gridCol>
                <a:gridCol w="6596777">
                  <a:extLst>
                    <a:ext uri="{9D8B030D-6E8A-4147-A177-3AD203B41FA5}">
                      <a16:colId xmlns:a16="http://schemas.microsoft.com/office/drawing/2014/main" val="4227356965"/>
                    </a:ext>
                  </a:extLst>
                </a:gridCol>
              </a:tblGrid>
              <a:tr h="324498">
                <a:tc>
                  <a:txBody>
                    <a:bodyPr/>
                    <a:lstStyle/>
                    <a:p>
                      <a:pPr marL="0" marR="0" algn="r" defTabSz="914400" rtl="0" eaLnBrk="1" fontAlgn="t" latinLnBrk="0" hangingPunct="1">
                        <a:buNone/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Feature examples</a:t>
                      </a:r>
                    </a:p>
                  </a:txBody>
                  <a:tcPr marL="54990" marR="54990" marT="27495" marB="27495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defTabSz="914400" rtl="0" eaLnBrk="1" fontAlgn="t" latinLnBrk="0" hangingPunct="1">
                        <a:buNone/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 marL="54990" marR="54990" marT="27495" marB="27495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8840481"/>
                  </a:ext>
                </a:extLst>
              </a:tr>
              <a:tr h="324498">
                <a:tc>
                  <a:txBody>
                    <a:bodyPr/>
                    <a:lstStyle/>
                    <a:p>
                      <a:pPr marL="0" marR="0" algn="r" defTabSz="914400" rtl="0" eaLnBrk="1" fontAlgn="t" latinLnBrk="0" hangingPunct="1">
                        <a:buNone/>
                      </a:pPr>
                      <a:r>
                        <a:rPr lang="en-US" sz="2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cape_roof_condition_rating</a:t>
                      </a:r>
                      <a:endParaRPr lang="en-US" sz="200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990" marR="54990" marT="27495" marB="27495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defTabSz="914400" rtl="0" eaLnBrk="1" fontAlgn="t" latinLnBrk="0" hangingPunct="1">
                        <a:buNone/>
                      </a:pPr>
                      <a:r>
                        <a:rPr lang="fr-FR" sz="2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Cape roof rating, </a:t>
                      </a:r>
                      <a:r>
                        <a:rPr lang="fr-FR" sz="2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ranging</a:t>
                      </a:r>
                      <a:r>
                        <a:rPr lang="fr-FR" sz="2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fr-FR" sz="2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from</a:t>
                      </a:r>
                      <a:r>
                        <a:rPr lang="fr-FR" sz="2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-2 to 2, </a:t>
                      </a:r>
                      <a:r>
                        <a:rPr lang="fr-FR" sz="2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with</a:t>
                      </a:r>
                      <a:r>
                        <a:rPr lang="fr-FR" sz="2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fr-FR" sz="2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unknowns</a:t>
                      </a:r>
                      <a:endParaRPr lang="fr-FR" sz="200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990" marR="54990" marT="27495" marB="27495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522460"/>
                  </a:ext>
                </a:extLst>
              </a:tr>
              <a:tr h="324498">
                <a:tc>
                  <a:txBody>
                    <a:bodyPr/>
                    <a:lstStyle/>
                    <a:p>
                      <a:pPr marL="0" marR="0" algn="r" defTabSz="914400" rtl="0" eaLnBrk="1" fontAlgn="t" latinLnBrk="0" hangingPunct="1">
                        <a:buNone/>
                      </a:pPr>
                      <a:r>
                        <a:rPr lang="en-US" sz="2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cape_roof_condition_rating_confidence</a:t>
                      </a:r>
                      <a:endParaRPr lang="en-US" sz="200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990" marR="54990" marT="27495" marB="27495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defTabSz="914400" rtl="0" eaLnBrk="1" fontAlgn="t" latinLnBrk="0" hangingPunct="1">
                        <a:buNone/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Confidence of </a:t>
                      </a:r>
                      <a:r>
                        <a:rPr lang="en-US" sz="2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Cape_roof_condition_rating</a:t>
                      </a:r>
                      <a:endParaRPr lang="en-US" sz="200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990" marR="54990" marT="27495" marB="27495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8316066"/>
                  </a:ext>
                </a:extLst>
              </a:tr>
              <a:tr h="324498">
                <a:tc>
                  <a:txBody>
                    <a:bodyPr/>
                    <a:lstStyle/>
                    <a:p>
                      <a:pPr marL="0" marR="0" algn="r" defTabSz="914400" rtl="0" eaLnBrk="1" fontAlgn="t" latinLnBrk="0" hangingPunct="1">
                        <a:buNone/>
                      </a:pPr>
                      <a:r>
                        <a:rPr lang="en-US" sz="2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cape_roof_material_degradation</a:t>
                      </a:r>
                      <a:endParaRPr lang="en-US" sz="200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defTabSz="914400" rtl="0" eaLnBrk="1" fontAlgn="t" latinLnBrk="0" hangingPunct="1">
                        <a:buNone/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Structural deterioration of the roofing material</a:t>
                      </a:r>
                    </a:p>
                  </a:txBody>
                  <a:tcPr marL="54990" marR="54990" marT="27495" marB="27495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7190577"/>
                  </a:ext>
                </a:extLst>
              </a:tr>
              <a:tr h="324498">
                <a:tc>
                  <a:txBody>
                    <a:bodyPr/>
                    <a:lstStyle/>
                    <a:p>
                      <a:pPr marL="0" marR="0" algn="r" defTabSz="914400" rtl="0" eaLnBrk="1" fontAlgn="t" latinLnBrk="0" hangingPunct="1">
                        <a:buNone/>
                      </a:pP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Cape_roof_patching</a:t>
                      </a:r>
                      <a:endParaRPr lang="en-US" sz="200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defTabSz="914400" rtl="0" eaLnBrk="1" fontAlgn="t" latinLnBrk="0" hangingPunct="1">
                        <a:buNone/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W/ or w/o patching on roof</a:t>
                      </a:r>
                    </a:p>
                  </a:txBody>
                  <a:tcPr marL="54990" marR="54990" marT="27495" marB="27495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896564"/>
                  </a:ext>
                </a:extLst>
              </a:tr>
              <a:tr h="324498">
                <a:tc>
                  <a:txBody>
                    <a:bodyPr/>
                    <a:lstStyle/>
                    <a:p>
                      <a:pPr marL="0" marR="0" algn="r" defTabSz="914400" rtl="0" eaLnBrk="1" fontAlgn="t" latinLnBrk="0" hangingPunct="1">
                        <a:buNone/>
                      </a:pPr>
                      <a:r>
                        <a:rPr lang="en-US" sz="2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cape_roof_natural_discoloration</a:t>
                      </a:r>
                      <a:endParaRPr lang="en-US" sz="200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defTabSz="914400" rtl="0" eaLnBrk="1" fontAlgn="t" latinLnBrk="0" hangingPunct="1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Amount of discoloration on the roof surface</a:t>
                      </a:r>
                      <a:endParaRPr lang="en-US" sz="200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990" marR="54990" marT="27495" marB="27495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8072"/>
                  </a:ext>
                </a:extLst>
              </a:tr>
            </a:tbl>
          </a:graphicData>
        </a:graphic>
      </p:graphicFrame>
      <p:sp>
        <p:nvSpPr>
          <p:cNvPr id="4" name="Footer Placeholder 9">
            <a:extLst>
              <a:ext uri="{FF2B5EF4-FFF2-40B4-BE49-F238E27FC236}">
                <a16:creationId xmlns:a16="http://schemas.microsoft.com/office/drawing/2014/main" id="{4299A6AA-9331-A143-D4B3-C51EA49CA00D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chemeClr val="bg1"/>
                </a:solidFill>
              </a:rPr>
              <a:t>Wei Zhang</a:t>
            </a:r>
          </a:p>
        </p:txBody>
      </p:sp>
    </p:spTree>
    <p:extLst>
      <p:ext uri="{BB962C8B-B14F-4D97-AF65-F5344CB8AC3E}">
        <p14:creationId xmlns:p14="http://schemas.microsoft.com/office/powerpoint/2010/main" val="1608821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EB6A4-0639-40C8-0586-91A9475CF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C95A12-A19B-F380-E4D0-198AAFBB7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33AC1-22CE-44B0-B8E1-BB17DEC4617F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3" name="Content Placeholder 5">
            <a:extLst>
              <a:ext uri="{FF2B5EF4-FFF2-40B4-BE49-F238E27FC236}">
                <a16:creationId xmlns:a16="http://schemas.microsoft.com/office/drawing/2014/main" id="{DAB43D13-567B-FE52-F506-6CD163C5BC6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18037590"/>
              </p:ext>
            </p:extLst>
          </p:nvPr>
        </p:nvGraphicFramePr>
        <p:xfrm>
          <a:off x="578250" y="1804039"/>
          <a:ext cx="10851750" cy="317073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495677">
                  <a:extLst>
                    <a:ext uri="{9D8B030D-6E8A-4147-A177-3AD203B41FA5}">
                      <a16:colId xmlns:a16="http://schemas.microsoft.com/office/drawing/2014/main" val="2643710241"/>
                    </a:ext>
                  </a:extLst>
                </a:gridCol>
                <a:gridCol w="1549783">
                  <a:extLst>
                    <a:ext uri="{9D8B030D-6E8A-4147-A177-3AD203B41FA5}">
                      <a16:colId xmlns:a16="http://schemas.microsoft.com/office/drawing/2014/main" val="687930860"/>
                    </a:ext>
                  </a:extLst>
                </a:gridCol>
                <a:gridCol w="1549783">
                  <a:extLst>
                    <a:ext uri="{9D8B030D-6E8A-4147-A177-3AD203B41FA5}">
                      <a16:colId xmlns:a16="http://schemas.microsoft.com/office/drawing/2014/main" val="3494481150"/>
                    </a:ext>
                  </a:extLst>
                </a:gridCol>
                <a:gridCol w="1402654">
                  <a:extLst>
                    <a:ext uri="{9D8B030D-6E8A-4147-A177-3AD203B41FA5}">
                      <a16:colId xmlns:a16="http://schemas.microsoft.com/office/drawing/2014/main" val="2595383764"/>
                    </a:ext>
                  </a:extLst>
                </a:gridCol>
                <a:gridCol w="1853853">
                  <a:extLst>
                    <a:ext uri="{9D8B030D-6E8A-4147-A177-3AD203B41FA5}">
                      <a16:colId xmlns:a16="http://schemas.microsoft.com/office/drawing/2014/main" val="1063865214"/>
                    </a:ext>
                  </a:extLst>
                </a:gridCol>
              </a:tblGrid>
              <a:tr h="43934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Whitney Book" pitchFamily="50" charset="0"/>
                        </a:rPr>
                        <a:t>Model</a:t>
                      </a:r>
                      <a:endParaRPr lang="en-US" sz="1800" dirty="0">
                        <a:effectLst/>
                        <a:latin typeface="Whitney Book" pitchFamily="50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Whitney Book" pitchFamily="50" charset="0"/>
                        </a:rPr>
                        <a:t>Train</a:t>
                      </a:r>
                      <a:endParaRPr lang="en-US" sz="1800" dirty="0">
                        <a:effectLst/>
                        <a:latin typeface="Whitney Book" pitchFamily="50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Whitney Book" pitchFamily="50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Valid</a:t>
                      </a: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Whitney Book" pitchFamily="50" charset="0"/>
                        </a:rPr>
                        <a:t>Holdout</a:t>
                      </a:r>
                      <a:endParaRPr lang="en-US" sz="1800" dirty="0">
                        <a:effectLst/>
                        <a:latin typeface="Whitney Book" pitchFamily="50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7888993"/>
                  </a:ext>
                </a:extLst>
              </a:tr>
              <a:tr h="914860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800" dirty="0"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68580" marR="68580" marT="0" marB="0" anchor="b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Whitney Book" pitchFamily="50" charset="0"/>
                        </a:rPr>
                        <a:t>Gini Index</a:t>
                      </a:r>
                      <a:endParaRPr lang="en-US" sz="1800" dirty="0">
                        <a:effectLst/>
                        <a:latin typeface="Whitney Book" pitchFamily="50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endParaRPr lang="en-US" sz="1800" dirty="0">
                        <a:effectLst/>
                        <a:latin typeface="Whitney Book" pitchFamily="50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Whitney Book" pitchFamily="50" charset="0"/>
                        </a:rPr>
                        <a:t>Gini Index</a:t>
                      </a:r>
                      <a:endParaRPr lang="en-US" sz="1800" dirty="0">
                        <a:effectLst/>
                        <a:latin typeface="Whitney Book" pitchFamily="50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Whitney Book" pitchFamily="50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Gini Improvement</a:t>
                      </a: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617796198"/>
                  </a:ext>
                </a:extLst>
              </a:tr>
              <a:tr h="56566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Whitney Book" pitchFamily="50" charset="0"/>
                        </a:rPr>
                        <a:t>Baseline(Model 1.40)</a:t>
                      </a:r>
                      <a:endParaRPr lang="en-US" sz="1800" dirty="0">
                        <a:effectLst/>
                        <a:latin typeface="Whitney Book" pitchFamily="50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Whitney Book" pitchFamily="50" charset="0"/>
                          <a:ea typeface="+mn-ea"/>
                          <a:cs typeface="+mn-cs"/>
                        </a:rPr>
                        <a:t>0.382</a:t>
                      </a:r>
                      <a:endParaRPr lang="en-US" sz="1800" dirty="0">
                        <a:effectLst/>
                        <a:latin typeface="Whitney Book" pitchFamily="50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Whitney Book" pitchFamily="50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0.451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Whitney Book" pitchFamily="50" charset="0"/>
                          <a:ea typeface="+mn-ea"/>
                          <a:cs typeface="+mn-cs"/>
                        </a:rPr>
                        <a:t>0.273</a:t>
                      </a:r>
                      <a:endParaRPr lang="en-US" sz="1800" dirty="0">
                        <a:effectLst/>
                        <a:latin typeface="Whitney Book" pitchFamily="50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Whitney Book" pitchFamily="50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/</a:t>
                      </a: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968116308"/>
                  </a:ext>
                </a:extLst>
              </a:tr>
              <a:tr h="6338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  <a:latin typeface="Whitney Book" pitchFamily="50" charset="0"/>
                        </a:rPr>
                        <a:t>Residual  </a:t>
                      </a:r>
                      <a:r>
                        <a:rPr lang="en-US" sz="1800" u="none" strike="noStrike" dirty="0" err="1">
                          <a:effectLst/>
                          <a:latin typeface="Whitney Book" pitchFamily="50" charset="0"/>
                        </a:rPr>
                        <a:t>Xgboost</a:t>
                      </a:r>
                      <a:r>
                        <a:rPr lang="en-US" sz="1800" u="none" strike="noStrike" dirty="0">
                          <a:effectLst/>
                          <a:latin typeface="Whitney Book" pitchFamily="50" charset="0"/>
                        </a:rPr>
                        <a:t> with Cape V4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Whitney Book" pitchFamily="50" charset="0"/>
                      </a:endParaRPr>
                    </a:p>
                  </a:txBody>
                  <a:tcPr marL="8401" marR="8401" marT="840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Whitney Book" pitchFamily="50" charset="0"/>
                          <a:ea typeface="+mn-ea"/>
                          <a:cs typeface="+mn-cs"/>
                        </a:rPr>
                        <a:t>0.432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Whitney Book" pitchFamily="50" charset="0"/>
                      </a:endParaRPr>
                    </a:p>
                  </a:txBody>
                  <a:tcPr marL="8401" marR="8401" marT="840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Whitney Book" pitchFamily="50" charset="0"/>
                        </a:rPr>
                        <a:t>0.476</a:t>
                      </a:r>
                    </a:p>
                  </a:txBody>
                  <a:tcPr marL="8401" marR="8401" marT="840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Whitney Book" pitchFamily="50" charset="0"/>
                          <a:ea typeface="+mn-ea"/>
                          <a:cs typeface="+mn-cs"/>
                        </a:rPr>
                        <a:t>0.277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Whitney Book" pitchFamily="50" charset="0"/>
                      </a:endParaRPr>
                    </a:p>
                  </a:txBody>
                  <a:tcPr marL="8401" marR="8401" marT="840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Whitney Book" pitchFamily="50" charset="0"/>
                        </a:rPr>
                        <a:t>+</a:t>
                      </a:r>
                      <a:r>
                        <a:rPr lang="en-US" sz="1800" b="0" i="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Whitney Book" pitchFamily="50" charset="0"/>
                        </a:rPr>
                        <a:t>1.47</a:t>
                      </a:r>
                      <a:r>
                        <a:rPr lang="en-US" sz="18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Whitney Book" pitchFamily="50" charset="0"/>
                        </a:rPr>
                        <a:t>% 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Whitney Book" pitchFamily="50" charset="0"/>
                      </a:endParaRPr>
                    </a:p>
                  </a:txBody>
                  <a:tcPr marL="8401" marR="8401" marT="8401" marB="0" anchor="b"/>
                </a:tc>
                <a:extLst>
                  <a:ext uri="{0D108BD9-81ED-4DB2-BD59-A6C34878D82A}">
                    <a16:rowId xmlns:a16="http://schemas.microsoft.com/office/drawing/2014/main" val="1458029146"/>
                  </a:ext>
                </a:extLst>
              </a:tr>
              <a:tr h="6170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  <a:latin typeface="Whitney Book" pitchFamily="50" charset="0"/>
                        </a:rPr>
                        <a:t>Residual  </a:t>
                      </a:r>
                      <a:r>
                        <a:rPr lang="en-US" sz="1800" u="none" strike="noStrike" dirty="0" err="1">
                          <a:effectLst/>
                          <a:latin typeface="Whitney Book" pitchFamily="50" charset="0"/>
                        </a:rPr>
                        <a:t>Xgboost</a:t>
                      </a:r>
                      <a:r>
                        <a:rPr lang="en-US" sz="1800" u="none" strike="noStrike" dirty="0">
                          <a:effectLst/>
                          <a:latin typeface="Whitney Book" pitchFamily="50" charset="0"/>
                        </a:rPr>
                        <a:t> with Cape V5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Whitney Book" pitchFamily="50" charset="0"/>
                      </a:endParaRPr>
                    </a:p>
                  </a:txBody>
                  <a:tcPr marL="8401" marR="8401" marT="8401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Whitney Book" pitchFamily="50" charset="0"/>
                          <a:ea typeface="+mn-ea"/>
                          <a:cs typeface="+mn-cs"/>
                        </a:rPr>
                        <a:t>0.452</a:t>
                      </a:r>
                    </a:p>
                  </a:txBody>
                  <a:tcPr marL="8401" marR="8401" marT="8401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Whitney Book" pitchFamily="50" charset="0"/>
                          <a:ea typeface="+mn-ea"/>
                          <a:cs typeface="+mn-cs"/>
                        </a:rPr>
                        <a:t>0.437</a:t>
                      </a:r>
                    </a:p>
                  </a:txBody>
                  <a:tcPr marL="8401" marR="8401" marT="8401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Whitney Book" pitchFamily="50" charset="0"/>
                          <a:ea typeface="+mn-ea"/>
                          <a:cs typeface="+mn-cs"/>
                        </a:rPr>
                        <a:t>0.282</a:t>
                      </a:r>
                    </a:p>
                  </a:txBody>
                  <a:tcPr marL="8401" marR="8401" marT="8401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Whitney Book" pitchFamily="50" charset="0"/>
                          <a:ea typeface="+mn-ea"/>
                          <a:cs typeface="+mn-cs"/>
                        </a:rPr>
                        <a:t>+3.29%</a:t>
                      </a:r>
                    </a:p>
                  </a:txBody>
                  <a:tcPr marL="8401" marR="8401" marT="8401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913535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10287CF5-CDC5-364E-8547-9574B8840123}"/>
              </a:ext>
            </a:extLst>
          </p:cNvPr>
          <p:cNvSpPr txBox="1">
            <a:spLocks/>
          </p:cNvSpPr>
          <p:nvPr/>
        </p:nvSpPr>
        <p:spPr>
          <a:xfrm>
            <a:off x="108857" y="289527"/>
            <a:ext cx="7896244" cy="7119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Results: Cape V5 has higher Gini Score</a:t>
            </a:r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C12C5E02-6AA2-18E4-836A-B6A419E170BC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chemeClr val="bg1"/>
                </a:solidFill>
              </a:rPr>
              <a:t>Wei Zhang</a:t>
            </a:r>
          </a:p>
        </p:txBody>
      </p:sp>
    </p:spTree>
    <p:extLst>
      <p:ext uri="{BB962C8B-B14F-4D97-AF65-F5344CB8AC3E}">
        <p14:creationId xmlns:p14="http://schemas.microsoft.com/office/powerpoint/2010/main" val="518609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B9E67-5F01-7DD4-D1C5-F35BB62F1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769B84-8384-6A00-AFA2-B82AB0E3B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33AC1-22CE-44B0-B8E1-BB17DEC4617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1B09A7B-78EF-7965-382F-704250C8772B}"/>
              </a:ext>
            </a:extLst>
          </p:cNvPr>
          <p:cNvSpPr txBox="1">
            <a:spLocks/>
          </p:cNvSpPr>
          <p:nvPr/>
        </p:nvSpPr>
        <p:spPr>
          <a:xfrm>
            <a:off x="71086" y="312604"/>
            <a:ext cx="10988800" cy="7119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Results: Cape V5 has better performance on lift chart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68B5E73-D3AC-4AA4-1290-59661F61D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828" y="1024562"/>
            <a:ext cx="4900965" cy="423955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5B4AAD4-0E33-3C2F-6D29-4CC7F167A0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3116" y="1024561"/>
            <a:ext cx="4900965" cy="4239552"/>
          </a:xfrm>
          <a:prstGeom prst="rect">
            <a:avLst/>
          </a:prstGeom>
        </p:spPr>
      </p:pic>
      <p:sp>
        <p:nvSpPr>
          <p:cNvPr id="3" name="Footer Placeholder 9">
            <a:extLst>
              <a:ext uri="{FF2B5EF4-FFF2-40B4-BE49-F238E27FC236}">
                <a16:creationId xmlns:a16="http://schemas.microsoft.com/office/drawing/2014/main" id="{4B8F81CA-813F-E2FE-5C04-B29FBAB146DB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chemeClr val="bg1"/>
                </a:solidFill>
              </a:rPr>
              <a:t>Wei Zhang</a:t>
            </a:r>
          </a:p>
        </p:txBody>
      </p:sp>
    </p:spTree>
    <p:extLst>
      <p:ext uri="{BB962C8B-B14F-4D97-AF65-F5344CB8AC3E}">
        <p14:creationId xmlns:p14="http://schemas.microsoft.com/office/powerpoint/2010/main" val="3681034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241E4-4065-1D8B-D3F7-FB41B20D2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530DBDD-1516-1E93-F1BC-CC6E493C1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3809" y="892629"/>
            <a:ext cx="6864853" cy="3971004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262FF9-DDCA-4589-97F2-2327D0A0A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33AC1-22CE-44B0-B8E1-BB17DEC4617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0CEBBB1-16B0-1D2E-6D04-6BE63FECFA46}"/>
              </a:ext>
            </a:extLst>
          </p:cNvPr>
          <p:cNvSpPr txBox="1">
            <a:spLocks/>
          </p:cNvSpPr>
          <p:nvPr/>
        </p:nvSpPr>
        <p:spPr>
          <a:xfrm>
            <a:off x="71085" y="312604"/>
            <a:ext cx="11228286" cy="7119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V5 has slightly better performance on standardized dual lift chart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664746-E9F4-1783-6A21-47163E4E17B9}"/>
              </a:ext>
            </a:extLst>
          </p:cNvPr>
          <p:cNvSpPr txBox="1"/>
          <p:nvPr/>
        </p:nvSpPr>
        <p:spPr>
          <a:xfrm>
            <a:off x="272142" y="5075936"/>
            <a:ext cx="116477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Cape V5 has lower MAE (0.13) than V4 (0.15).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57FBA6-2262-5564-07FF-CA74A64BA6C2}"/>
              </a:ext>
            </a:extLst>
          </p:cNvPr>
          <p:cNvSpPr/>
          <p:nvPr/>
        </p:nvSpPr>
        <p:spPr>
          <a:xfrm>
            <a:off x="3548743" y="1371600"/>
            <a:ext cx="1143000" cy="2699657"/>
          </a:xfrm>
          <a:prstGeom prst="rect">
            <a:avLst/>
          </a:prstGeom>
          <a:solidFill>
            <a:srgbClr val="FFFF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78F0B4-5CC3-A1BA-692B-45DFB8B9BD34}"/>
              </a:ext>
            </a:extLst>
          </p:cNvPr>
          <p:cNvSpPr/>
          <p:nvPr/>
        </p:nvSpPr>
        <p:spPr>
          <a:xfrm>
            <a:off x="7413172" y="1371599"/>
            <a:ext cx="1371600" cy="2699657"/>
          </a:xfrm>
          <a:prstGeom prst="rect">
            <a:avLst/>
          </a:prstGeom>
          <a:solidFill>
            <a:srgbClr val="FFFF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Footer Placeholder 9">
            <a:extLst>
              <a:ext uri="{FF2B5EF4-FFF2-40B4-BE49-F238E27FC236}">
                <a16:creationId xmlns:a16="http://schemas.microsoft.com/office/drawing/2014/main" id="{EB412236-3AAF-B6AB-185D-2A6FBC5D736B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chemeClr val="bg1"/>
                </a:solidFill>
              </a:rPr>
              <a:t>Wei Zhang</a:t>
            </a:r>
          </a:p>
        </p:txBody>
      </p:sp>
    </p:spTree>
    <p:extLst>
      <p:ext uri="{BB962C8B-B14F-4D97-AF65-F5344CB8AC3E}">
        <p14:creationId xmlns:p14="http://schemas.microsoft.com/office/powerpoint/2010/main" val="42046671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4D79F-12D6-4DFC-6100-EEE445279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C0A17CE9-DC9D-ABCA-13BA-FFF4D5E986B3}"/>
              </a:ext>
            </a:extLst>
          </p:cNvPr>
          <p:cNvGrpSpPr/>
          <p:nvPr/>
        </p:nvGrpSpPr>
        <p:grpSpPr>
          <a:xfrm>
            <a:off x="0" y="6275753"/>
            <a:ext cx="12192000" cy="582247"/>
            <a:chOff x="0" y="6275753"/>
            <a:chExt cx="12192000" cy="58224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14895EA-BAAD-7D53-F10F-A6CBC0EAA025}"/>
                </a:ext>
              </a:extLst>
            </p:cNvPr>
            <p:cNvSpPr/>
            <p:nvPr/>
          </p:nvSpPr>
          <p:spPr>
            <a:xfrm>
              <a:off x="0" y="6275753"/>
              <a:ext cx="12192000" cy="582247"/>
            </a:xfrm>
            <a:prstGeom prst="rect">
              <a:avLst/>
            </a:prstGeom>
            <a:solidFill>
              <a:srgbClr val="008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CD88E58-5897-46BF-B17A-C666CB163FE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45" t="10154" r="14801" b="11629"/>
            <a:stretch/>
          </p:blipFill>
          <p:spPr>
            <a:xfrm>
              <a:off x="41658" y="6306775"/>
              <a:ext cx="2334491" cy="541479"/>
            </a:xfrm>
            <a:prstGeom prst="rect">
              <a:avLst/>
            </a:prstGeom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C6A398-F3F2-C0ED-92D7-310C6CF98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z="2000" smtClean="0">
                <a:solidFill>
                  <a:schemeClr val="bg1"/>
                </a:solidFill>
              </a:rPr>
              <a:t>12</a:t>
            </a:fld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3" name="Footer Placeholder 9">
            <a:extLst>
              <a:ext uri="{FF2B5EF4-FFF2-40B4-BE49-F238E27FC236}">
                <a16:creationId xmlns:a16="http://schemas.microsoft.com/office/drawing/2014/main" id="{7E7FB792-EAC9-C5C5-82AF-8513DC5E5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2000" dirty="0">
                <a:solidFill>
                  <a:schemeClr val="bg1"/>
                </a:solidFill>
              </a:rPr>
              <a:t>Wei Zhang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C52658-EDAB-C694-BE8A-B58B4324FCA2}"/>
              </a:ext>
            </a:extLst>
          </p:cNvPr>
          <p:cNvSpPr txBox="1"/>
          <p:nvPr/>
        </p:nvSpPr>
        <p:spPr>
          <a:xfrm>
            <a:off x="263039" y="226140"/>
            <a:ext cx="103813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Conclusion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714744-2C77-9FFA-8621-394F473A0381}"/>
              </a:ext>
            </a:extLst>
          </p:cNvPr>
          <p:cNvSpPr/>
          <p:nvPr/>
        </p:nvSpPr>
        <p:spPr>
          <a:xfrm>
            <a:off x="556591" y="1360714"/>
            <a:ext cx="2743200" cy="15888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V4 and V5 images: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Similar data in May and July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 features between V4 and V5 (</a:t>
            </a:r>
            <a:r>
              <a:rPr lang="en-US" dirty="0"/>
              <a:t>deliver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later)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997F72-BAC5-25D2-0070-F77FD1380306}"/>
              </a:ext>
            </a:extLst>
          </p:cNvPr>
          <p:cNvSpPr/>
          <p:nvPr/>
        </p:nvSpPr>
        <p:spPr>
          <a:xfrm>
            <a:off x="4118822" y="1502467"/>
            <a:ext cx="3330360" cy="13807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Sanity check: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V5 has a better slope on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roof_rating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use V4 only features for modeling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5B75A1-758E-288A-AF59-7A1D655653D1}"/>
              </a:ext>
            </a:extLst>
          </p:cNvPr>
          <p:cNvSpPr/>
          <p:nvPr/>
        </p:nvSpPr>
        <p:spPr>
          <a:xfrm>
            <a:off x="8557893" y="1516431"/>
            <a:ext cx="3289550" cy="13807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Modeling results: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V5 has a high score with 3.29% improvement.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V5 has a better lift chart and lower MAE.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353770-A26E-BE6C-7585-7BC363D433ED}"/>
              </a:ext>
            </a:extLst>
          </p:cNvPr>
          <p:cNvSpPr/>
          <p:nvPr/>
        </p:nvSpPr>
        <p:spPr>
          <a:xfrm>
            <a:off x="8557892" y="3900789"/>
            <a:ext cx="2112264" cy="13807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 update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046E4A-BD95-D8DE-8CAB-A9D8F5093AF3}"/>
              </a:ext>
            </a:extLst>
          </p:cNvPr>
          <p:cNvSpPr/>
          <p:nvPr/>
        </p:nvSpPr>
        <p:spPr>
          <a:xfrm>
            <a:off x="5005449" y="3912558"/>
            <a:ext cx="2112264" cy="13807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Incorporate into model 1.50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DFB8A6-3218-4ACF-614C-30844552D43B}"/>
              </a:ext>
            </a:extLst>
          </p:cNvPr>
          <p:cNvSpPr/>
          <p:nvPr/>
        </p:nvSpPr>
        <p:spPr>
          <a:xfrm>
            <a:off x="1447748" y="3922292"/>
            <a:ext cx="2112264" cy="13807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More features from Cape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6DF864FD-72A1-C659-64EA-AED6FAA9B820}"/>
              </a:ext>
            </a:extLst>
          </p:cNvPr>
          <p:cNvSpPr/>
          <p:nvPr/>
        </p:nvSpPr>
        <p:spPr>
          <a:xfrm>
            <a:off x="3341582" y="1986918"/>
            <a:ext cx="777240" cy="3657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3423F008-E1A8-8B38-9126-167ECEEBF0F1}"/>
              </a:ext>
            </a:extLst>
          </p:cNvPr>
          <p:cNvSpPr/>
          <p:nvPr/>
        </p:nvSpPr>
        <p:spPr>
          <a:xfrm>
            <a:off x="7614917" y="2008423"/>
            <a:ext cx="777240" cy="3657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B43F35-301E-88A6-1BBA-8709A78F795B}"/>
              </a:ext>
            </a:extLst>
          </p:cNvPr>
          <p:cNvSpPr txBox="1"/>
          <p:nvPr/>
        </p:nvSpPr>
        <p:spPr>
          <a:xfrm>
            <a:off x="263039" y="3186554"/>
            <a:ext cx="60976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Future work</a:t>
            </a:r>
            <a:endParaRPr lang="en-US" sz="3600" dirty="0"/>
          </a:p>
        </p:txBody>
      </p:sp>
      <p:sp>
        <p:nvSpPr>
          <p:cNvPr id="21" name="Right Arrow 6">
            <a:extLst>
              <a:ext uri="{FF2B5EF4-FFF2-40B4-BE49-F238E27FC236}">
                <a16:creationId xmlns:a16="http://schemas.microsoft.com/office/drawing/2014/main" id="{BB889C9B-88AF-DA6A-F297-596E4129CCB0}"/>
              </a:ext>
            </a:extLst>
          </p:cNvPr>
          <p:cNvSpPr/>
          <p:nvPr/>
        </p:nvSpPr>
        <p:spPr>
          <a:xfrm>
            <a:off x="3891481" y="4436741"/>
            <a:ext cx="777240" cy="3657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Arrow 15">
            <a:extLst>
              <a:ext uri="{FF2B5EF4-FFF2-40B4-BE49-F238E27FC236}">
                <a16:creationId xmlns:a16="http://schemas.microsoft.com/office/drawing/2014/main" id="{CEA4BE3A-FF97-EC2D-D5A6-62669D690A05}"/>
              </a:ext>
            </a:extLst>
          </p:cNvPr>
          <p:cNvSpPr/>
          <p:nvPr/>
        </p:nvSpPr>
        <p:spPr>
          <a:xfrm>
            <a:off x="7449182" y="4408281"/>
            <a:ext cx="777240" cy="3657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1832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6FFF1-169A-487C-FA87-C3F05FE93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69D54AE0-84E2-559A-8CB9-6FE45AFA648B}"/>
              </a:ext>
            </a:extLst>
          </p:cNvPr>
          <p:cNvGrpSpPr/>
          <p:nvPr/>
        </p:nvGrpSpPr>
        <p:grpSpPr>
          <a:xfrm>
            <a:off x="0" y="6275753"/>
            <a:ext cx="12192000" cy="582247"/>
            <a:chOff x="0" y="6275753"/>
            <a:chExt cx="12192000" cy="58224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AD51A42-4992-8860-FFB5-F5DB6C74406B}"/>
                </a:ext>
              </a:extLst>
            </p:cNvPr>
            <p:cNvSpPr/>
            <p:nvPr/>
          </p:nvSpPr>
          <p:spPr>
            <a:xfrm>
              <a:off x="0" y="6275753"/>
              <a:ext cx="12192000" cy="582247"/>
            </a:xfrm>
            <a:prstGeom prst="rect">
              <a:avLst/>
            </a:prstGeom>
            <a:solidFill>
              <a:srgbClr val="008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37DAE3D-8948-5D69-B9D4-73BAF88405F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45" t="10154" r="14801" b="11629"/>
            <a:stretch/>
          </p:blipFill>
          <p:spPr>
            <a:xfrm>
              <a:off x="41658" y="6306775"/>
              <a:ext cx="2334491" cy="541479"/>
            </a:xfrm>
            <a:prstGeom prst="rect">
              <a:avLst/>
            </a:prstGeom>
          </p:spPr>
        </p:pic>
      </p:grp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08833A0-06B9-2FEF-E4E7-764CC518E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2000" dirty="0">
                <a:solidFill>
                  <a:schemeClr val="bg1"/>
                </a:solidFill>
              </a:rPr>
              <a:t>Wei Zhang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53DDD884-E1E8-3251-27B5-03165A753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z="2000" smtClean="0">
                <a:solidFill>
                  <a:schemeClr val="bg1"/>
                </a:solidFill>
              </a:rPr>
              <a:t>13</a:t>
            </a:fld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5B5516-64CE-1E9F-3639-79F1A4A3CD74}"/>
              </a:ext>
            </a:extLst>
          </p:cNvPr>
          <p:cNvSpPr txBox="1"/>
          <p:nvPr/>
        </p:nvSpPr>
        <p:spPr>
          <a:xfrm>
            <a:off x="2264787" y="2393900"/>
            <a:ext cx="731342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1"/>
                </a:solidFill>
              </a:rPr>
              <a:t>Finally, I’d like to thank everyone </a:t>
            </a:r>
          </a:p>
          <a:p>
            <a:pPr algn="ctr"/>
            <a:r>
              <a:rPr lang="en-US" sz="3600" b="1" dirty="0">
                <a:solidFill>
                  <a:schemeClr val="accent1"/>
                </a:solidFill>
              </a:rPr>
              <a:t>in the team and in the company, especially Shawn and Yi for valuable suggestions.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56C703-7DD6-32B0-2505-169C3F5D3EA2}"/>
              </a:ext>
            </a:extLst>
          </p:cNvPr>
          <p:cNvSpPr txBox="1"/>
          <p:nvPr/>
        </p:nvSpPr>
        <p:spPr>
          <a:xfrm>
            <a:off x="2264786" y="769010"/>
            <a:ext cx="73134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accent1"/>
                </a:solidFill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3455930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1E27E5-F4A8-DEC6-8420-5A3301373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33AC1-22CE-44B0-B8E1-BB17DEC4617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A733AA-97E4-400D-C7A1-FABE3E6EA371}"/>
              </a:ext>
            </a:extLst>
          </p:cNvPr>
          <p:cNvSpPr txBox="1"/>
          <p:nvPr/>
        </p:nvSpPr>
        <p:spPr>
          <a:xfrm>
            <a:off x="685800" y="2182734"/>
            <a:ext cx="1055914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					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	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Feature 	 </a:t>
            </a:r>
            <a:r>
              <a:rPr lang="en-US" sz="180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ImportancePct</a:t>
            </a:r>
            <a:b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0                                  </a:t>
            </a:r>
            <a:r>
              <a:rPr lang="en-US" sz="180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cape_roof_ponding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       10.57</a:t>
            </a:r>
            <a:b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1              </a:t>
            </a:r>
            <a:r>
              <a:rPr lang="en-US" sz="180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cape_roof_material_degradation_reason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        8.87</a:t>
            </a:r>
            <a:b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2                     </a:t>
            </a:r>
            <a:r>
              <a:rPr lang="en-US" sz="180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cape_accessory_structure_count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        6.67</a:t>
            </a:r>
            <a:b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3                       </a:t>
            </a:r>
            <a:r>
              <a:rPr lang="en-US" sz="180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cape_roof_ponding_confidence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        5.81</a:t>
            </a:r>
            <a:b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4                 </a:t>
            </a:r>
            <a:r>
              <a:rPr lang="en-US" sz="180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cape_accessory_structure_footprint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        5.58</a:t>
            </a:r>
            <a:b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5     </a:t>
            </a:r>
            <a:r>
              <a:rPr lang="en-US" sz="180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cape_accessory_structure_roof_condition_rating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        5.46</a:t>
            </a:r>
            <a:b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6                      </a:t>
            </a:r>
            <a:r>
              <a:rPr lang="en-US" sz="180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cape_roof_patching_confidence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        5.00</a:t>
            </a:r>
            <a:b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7                   </a:t>
            </a:r>
            <a:r>
              <a:rPr lang="en-US" sz="180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cape_primary_structure_longitude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        4.66</a:t>
            </a:r>
            <a:b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8                    </a:t>
            </a:r>
            <a:r>
              <a:rPr lang="en-US" sz="180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cape_primary_structure_latitude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        4.46</a:t>
            </a:r>
            <a:b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9          </a:t>
            </a:r>
            <a:r>
              <a:rPr lang="en-US" sz="180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cape_roof_material_degradation_confidence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        4.35</a:t>
            </a:r>
            <a:b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10  </a:t>
            </a:r>
            <a:r>
              <a:rPr lang="en-US" sz="180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cape_roof_material_degradation_reason_confidence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        4.22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32B7959-0E64-90E9-9193-5616F039AAA5}"/>
              </a:ext>
            </a:extLst>
          </p:cNvPr>
          <p:cNvSpPr txBox="1">
            <a:spLocks/>
          </p:cNvSpPr>
          <p:nvPr/>
        </p:nvSpPr>
        <p:spPr>
          <a:xfrm>
            <a:off x="71086" y="312604"/>
            <a:ext cx="7896244" cy="7119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Results: V4 model importance</a:t>
            </a:r>
          </a:p>
        </p:txBody>
      </p:sp>
    </p:spTree>
    <p:extLst>
      <p:ext uri="{BB962C8B-B14F-4D97-AF65-F5344CB8AC3E}">
        <p14:creationId xmlns:p14="http://schemas.microsoft.com/office/powerpoint/2010/main" val="38943487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716C3-85FC-9CBA-46CD-B2A6F13E5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59BE82-16F8-2198-3839-C0F3E18AD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33AC1-22CE-44B0-B8E1-BB17DEC4617F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829DA1E-585D-1A04-7EE8-5E57F7925733}"/>
              </a:ext>
            </a:extLst>
          </p:cNvPr>
          <p:cNvSpPr txBox="1">
            <a:spLocks/>
          </p:cNvSpPr>
          <p:nvPr/>
        </p:nvSpPr>
        <p:spPr>
          <a:xfrm>
            <a:off x="71086" y="312604"/>
            <a:ext cx="7896244" cy="7119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Results: V5 model importance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93B30F-0630-6066-2876-AE05DD965F1A}"/>
              </a:ext>
            </a:extLst>
          </p:cNvPr>
          <p:cNvSpPr txBox="1"/>
          <p:nvPr/>
        </p:nvSpPr>
        <p:spPr>
          <a:xfrm>
            <a:off x="664027" y="1501791"/>
            <a:ext cx="1161505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						Feature     </a:t>
            </a:r>
            <a:r>
              <a:rPr lang="en-US" sz="180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ImportancePct</a:t>
            </a:r>
            <a:b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0                                  </a:t>
            </a:r>
            <a:r>
              <a:rPr lang="en-US" sz="180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cape_roof_ponding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        5.25</a:t>
            </a:r>
            <a:b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1                       </a:t>
            </a:r>
            <a:r>
              <a:rPr lang="en-US" sz="180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cape_roof_ponding_confidence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        4.56</a:t>
            </a:r>
            <a:b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2                    </a:t>
            </a:r>
            <a:r>
              <a:rPr lang="en-US" sz="180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cape_primary_structure_latitude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        4.45</a:t>
            </a:r>
            <a:b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3              </a:t>
            </a:r>
            <a:r>
              <a:rPr lang="en-US" sz="180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cape_roof_condition_rating_confidence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        4.27</a:t>
            </a:r>
            <a:b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4                 </a:t>
            </a:r>
            <a:r>
              <a:rPr lang="en-US" sz="180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cape_accessory_structure_footprint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        4.24</a:t>
            </a:r>
            <a:b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5                       </a:t>
            </a:r>
            <a:r>
              <a:rPr lang="en-US" sz="180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cape_roof_sealing_confidence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        4.13</a:t>
            </a:r>
            <a:b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6                     </a:t>
            </a:r>
            <a:r>
              <a:rPr lang="en-US" sz="180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cape_accessory_structure_count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        4.11</a:t>
            </a:r>
            <a:b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7                   </a:t>
            </a:r>
            <a:r>
              <a:rPr lang="en-US" sz="180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cape_primary_structure_longitude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        4.09</a:t>
            </a:r>
            <a:b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8                     </a:t>
            </a:r>
            <a:r>
              <a:rPr lang="en-US" sz="180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cape_roof_streaking_confidence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        3.97</a:t>
            </a:r>
            <a:b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9     </a:t>
            </a:r>
            <a:r>
              <a:rPr lang="en-US" sz="180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cape_accessory_structure_roof_condition_rating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        3.95</a:t>
            </a:r>
            <a:b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10                         </a:t>
            </a:r>
            <a:r>
              <a:rPr lang="en-US" sz="180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cape_roof_tarp_confidence</a:t>
            </a:r>
            <a:r>
              <a:rPr lang="en-US" sz="18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        3.74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5489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C703F-3189-EAD3-9A56-DE769FCFA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C7DDD5-620F-A8B6-34A0-2B6E38EA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33AC1-22CE-44B0-B8E1-BB17DEC4617F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2CDBB00-E1CE-343E-5C78-8B6E1210F99E}"/>
              </a:ext>
            </a:extLst>
          </p:cNvPr>
          <p:cNvSpPr txBox="1">
            <a:spLocks/>
          </p:cNvSpPr>
          <p:nvPr/>
        </p:nvSpPr>
        <p:spPr>
          <a:xfrm>
            <a:off x="71086" y="312604"/>
            <a:ext cx="7896244" cy="7119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Results: dual lift chart vs base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1E8D23-0960-66C4-94B6-1735CF1AE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302204"/>
            <a:ext cx="5105400" cy="31432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2AEDD1B-A592-933B-1A1F-8272040D9E78}"/>
              </a:ext>
            </a:extLst>
          </p:cNvPr>
          <p:cNvSpPr txBox="1"/>
          <p:nvPr/>
        </p:nvSpPr>
        <p:spPr>
          <a:xfrm>
            <a:off x="361952" y="4732676"/>
            <a:ext cx="615587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--- Binned Calibration Metrics (from chart) --- base ('base’) </a:t>
            </a:r>
          </a:p>
          <a:p>
            <a:r>
              <a:rPr lang="en-US" b="0" i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MAE (Avg. Miscalibration): 2.9064 </a:t>
            </a:r>
          </a:p>
          <a:p>
            <a:r>
              <a:rPr lang="en-US" b="0" i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Cape V5 ('pp_v5’) </a:t>
            </a:r>
          </a:p>
          <a:p>
            <a:r>
              <a:rPr lang="en-US" b="0" i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MAE (Avg. Miscalibration): 2.3521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8741D54-1881-9950-D020-000C861F42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5011" y="1302204"/>
            <a:ext cx="5105400" cy="314325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15ECF86-CD60-C409-E5E8-0A2A3065F882}"/>
              </a:ext>
            </a:extLst>
          </p:cNvPr>
          <p:cNvSpPr txBox="1"/>
          <p:nvPr/>
        </p:nvSpPr>
        <p:spPr>
          <a:xfrm>
            <a:off x="6517822" y="4732676"/>
            <a:ext cx="615587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--- Binned Calibration Metrics (from chart) --- base ('base’) </a:t>
            </a:r>
          </a:p>
          <a:p>
            <a:r>
              <a:rPr lang="en-US" b="0" i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MAE (Avg. Miscalibration): 2.9756 </a:t>
            </a:r>
          </a:p>
          <a:p>
            <a:r>
              <a:rPr lang="en-US" b="0" i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Cape V4 ('pp_v4’) </a:t>
            </a:r>
          </a:p>
          <a:p>
            <a:r>
              <a:rPr lang="en-US" b="0" i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MAE (Avg. Miscalibration): 2.5560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0150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8FFFF-A149-4F7A-2CC6-AF0B027D6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38630-7131-D0B9-2119-BA3945350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3C7F53-0016-F648-28ED-913F48008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Jay Pi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FD3CAA-BFB1-85F8-50FE-BEEDE3AE5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mtClean="0"/>
              <a:t>17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DC929A-817D-D263-6B5D-7D2301931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0" y="1857375"/>
            <a:ext cx="5105400" cy="3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8074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78216-D993-D6CB-CD75-C5300AF3A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E8C85-1B05-5D74-AABC-63AA30D383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2497DB-CA18-4E24-372B-287C3AA0A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Jay Pi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2D7DBA-D6DE-7AD8-F1EB-8FDCCD19F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784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DE3AE-F647-B359-A27A-F0ADF06CF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0BEE5E3-CE64-36C3-29E1-8B994833E1C3}"/>
              </a:ext>
            </a:extLst>
          </p:cNvPr>
          <p:cNvGrpSpPr/>
          <p:nvPr/>
        </p:nvGrpSpPr>
        <p:grpSpPr>
          <a:xfrm>
            <a:off x="0" y="6275753"/>
            <a:ext cx="12192000" cy="582247"/>
            <a:chOff x="0" y="6275753"/>
            <a:chExt cx="12192000" cy="58224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9074BB7-4073-24C4-8840-F2667A1A09B4}"/>
                </a:ext>
              </a:extLst>
            </p:cNvPr>
            <p:cNvSpPr/>
            <p:nvPr/>
          </p:nvSpPr>
          <p:spPr>
            <a:xfrm>
              <a:off x="0" y="6275753"/>
              <a:ext cx="12192000" cy="582247"/>
            </a:xfrm>
            <a:prstGeom prst="rect">
              <a:avLst/>
            </a:prstGeom>
            <a:solidFill>
              <a:srgbClr val="008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9596354-6BD6-180C-E503-8E6F341919B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45" t="10154" r="14801" b="11629"/>
            <a:stretch/>
          </p:blipFill>
          <p:spPr>
            <a:xfrm>
              <a:off x="41658" y="6306775"/>
              <a:ext cx="2334491" cy="541479"/>
            </a:xfrm>
            <a:prstGeom prst="rect">
              <a:avLst/>
            </a:prstGeom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84FBB4-89B0-3025-F7B0-E55C3B2E8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z="2000" smtClean="0">
                <a:solidFill>
                  <a:schemeClr val="bg1"/>
                </a:solidFill>
              </a:rPr>
              <a:t>19</a:t>
            </a:fld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3" name="Footer Placeholder 9">
            <a:extLst>
              <a:ext uri="{FF2B5EF4-FFF2-40B4-BE49-F238E27FC236}">
                <a16:creationId xmlns:a16="http://schemas.microsoft.com/office/drawing/2014/main" id="{3401B8BC-3392-F698-C087-245F81DAE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2000" dirty="0">
                <a:solidFill>
                  <a:schemeClr val="bg1"/>
                </a:solidFill>
              </a:rPr>
              <a:t>Wei Zhang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3E0C15-C779-10F9-F502-6DF4351825B6}"/>
              </a:ext>
            </a:extLst>
          </p:cNvPr>
          <p:cNvSpPr txBox="1"/>
          <p:nvPr/>
        </p:nvSpPr>
        <p:spPr>
          <a:xfrm>
            <a:off x="0" y="9746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>
                    <a:lumMod val="75000"/>
                  </a:schemeClr>
                </a:solidFill>
              </a:rPr>
              <a:t>Objective: estimate bedrooms and bathrooms using address only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F30D33-3702-FEF6-2F94-BCE49ADBB92C}"/>
              </a:ext>
            </a:extLst>
          </p:cNvPr>
          <p:cNvSpPr txBox="1"/>
          <p:nvPr/>
        </p:nvSpPr>
        <p:spPr>
          <a:xfrm>
            <a:off x="0" y="88115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Check the following files and whether they are correct. </a:t>
            </a:r>
            <a:endParaRPr lang="en-US" sz="24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1A48F9-4757-1810-B0EA-E8D67E1CF1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02779"/>
            <a:ext cx="12192000" cy="345244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54EF974-F54E-ABB6-7A69-05468CC426F5}"/>
              </a:ext>
            </a:extLst>
          </p:cNvPr>
          <p:cNvSpPr/>
          <p:nvPr/>
        </p:nvSpPr>
        <p:spPr>
          <a:xfrm>
            <a:off x="402772" y="3712029"/>
            <a:ext cx="3276600" cy="1600200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308CAD-65D6-1AA6-451E-DF42C0FBF4D2}"/>
              </a:ext>
            </a:extLst>
          </p:cNvPr>
          <p:cNvSpPr txBox="1"/>
          <p:nvPr/>
        </p:nvSpPr>
        <p:spPr>
          <a:xfrm>
            <a:off x="3864429" y="5029200"/>
            <a:ext cx="39950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highlight>
                  <a:srgbClr val="FF0000"/>
                </a:highlight>
              </a:rPr>
              <a:t>Cape received from us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B8B34D-A4ED-DCF5-9E8F-19CFF69C8F9E}"/>
              </a:ext>
            </a:extLst>
          </p:cNvPr>
          <p:cNvSpPr txBox="1"/>
          <p:nvPr/>
        </p:nvSpPr>
        <p:spPr>
          <a:xfrm>
            <a:off x="3864429" y="2306339"/>
            <a:ext cx="39950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</a:rPr>
              <a:t>Cape sent back to us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646D96-380D-8AED-AF1E-CC3E79140F47}"/>
              </a:ext>
            </a:extLst>
          </p:cNvPr>
          <p:cNvSpPr/>
          <p:nvPr/>
        </p:nvSpPr>
        <p:spPr>
          <a:xfrm>
            <a:off x="402772" y="1967904"/>
            <a:ext cx="3276600" cy="1600200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FF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7813361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12FC8-4462-C082-60B1-CDD33F6E3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E7B15471-5C26-5510-A8E9-FF1DBC1C30ED}"/>
              </a:ext>
            </a:extLst>
          </p:cNvPr>
          <p:cNvGrpSpPr/>
          <p:nvPr/>
        </p:nvGrpSpPr>
        <p:grpSpPr>
          <a:xfrm>
            <a:off x="0" y="6275753"/>
            <a:ext cx="12192000" cy="582247"/>
            <a:chOff x="0" y="6275753"/>
            <a:chExt cx="12192000" cy="58224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9ADE411-CE3F-321B-630B-4A75DC725AB9}"/>
                </a:ext>
              </a:extLst>
            </p:cNvPr>
            <p:cNvSpPr/>
            <p:nvPr/>
          </p:nvSpPr>
          <p:spPr>
            <a:xfrm>
              <a:off x="0" y="6275753"/>
              <a:ext cx="12192000" cy="582247"/>
            </a:xfrm>
            <a:prstGeom prst="rect">
              <a:avLst/>
            </a:prstGeom>
            <a:solidFill>
              <a:srgbClr val="008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15B3F1A-DD34-7F95-713D-98FB411928B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45" t="10154" r="14801" b="11629"/>
            <a:stretch/>
          </p:blipFill>
          <p:spPr>
            <a:xfrm>
              <a:off x="41658" y="6306775"/>
              <a:ext cx="2334491" cy="541479"/>
            </a:xfrm>
            <a:prstGeom prst="rect">
              <a:avLst/>
            </a:prstGeom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5BF44A-5B94-F430-CFCA-E496C0B21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z="2000" smtClean="0">
                <a:solidFill>
                  <a:schemeClr val="bg1"/>
                </a:solidFill>
              </a:rPr>
              <a:t>20</a:t>
            </a:fld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3" name="Footer Placeholder 9">
            <a:extLst>
              <a:ext uri="{FF2B5EF4-FFF2-40B4-BE49-F238E27FC236}">
                <a16:creationId xmlns:a16="http://schemas.microsoft.com/office/drawing/2014/main" id="{87147F81-C4B4-0925-AB14-5BE3A05E1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2000" dirty="0">
                <a:solidFill>
                  <a:schemeClr val="bg1"/>
                </a:solidFill>
              </a:rPr>
              <a:t>Wei Zhang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7F4AF3-EE46-10ED-B312-CDA1877B8109}"/>
              </a:ext>
            </a:extLst>
          </p:cNvPr>
          <p:cNvSpPr txBox="1"/>
          <p:nvPr/>
        </p:nvSpPr>
        <p:spPr>
          <a:xfrm>
            <a:off x="0" y="9746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>
                    <a:lumMod val="75000"/>
                  </a:schemeClr>
                </a:solidFill>
              </a:rPr>
              <a:t>Cape received from us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45F81D-228E-60FC-2134-3BADA72EE1CC}"/>
              </a:ext>
            </a:extLst>
          </p:cNvPr>
          <p:cNvSpPr txBox="1"/>
          <p:nvPr/>
        </p:nvSpPr>
        <p:spPr>
          <a:xfrm>
            <a:off x="0" y="881150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2800" dirty="0">
                <a:hlinkClick r:id="rId4"/>
              </a:rPr>
              <a:t>PRAC_Historical_PIF_072025_Updated_073125.csv</a:t>
            </a:r>
            <a:endParaRPr lang="en-US" sz="36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46AC53A-CFBE-7413-D7C1-DDD36FA5C1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58" y="1690999"/>
            <a:ext cx="11852552" cy="161746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C0DF63C-4B74-CDAB-2AA4-9E65CC4EB6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58" y="3425523"/>
            <a:ext cx="6422942" cy="273316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9179252-8669-21AF-EF26-31188E06CBF1}"/>
              </a:ext>
            </a:extLst>
          </p:cNvPr>
          <p:cNvSpPr txBox="1"/>
          <p:nvPr/>
        </p:nvSpPr>
        <p:spPr>
          <a:xfrm>
            <a:off x="4158343" y="2075169"/>
            <a:ext cx="39950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</a:rPr>
              <a:t>Variables correct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0A5763A-7145-DDB6-EF26-A43043173648}"/>
              </a:ext>
            </a:extLst>
          </p:cNvPr>
          <p:cNvSpPr txBox="1"/>
          <p:nvPr/>
        </p:nvSpPr>
        <p:spPr>
          <a:xfrm>
            <a:off x="6613071" y="431951"/>
            <a:ext cx="39950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</a:rPr>
              <a:t>Bo’s file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DEA98BF-1E52-F566-4638-8B830A6D7854}"/>
              </a:ext>
            </a:extLst>
          </p:cNvPr>
          <p:cNvSpPr txBox="1"/>
          <p:nvPr/>
        </p:nvSpPr>
        <p:spPr>
          <a:xfrm>
            <a:off x="3970405" y="4561274"/>
            <a:ext cx="39950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</a:rPr>
              <a:t>First 5 samples correct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96CFC6-0974-338A-94E0-05227C2B47B9}"/>
              </a:ext>
            </a:extLst>
          </p:cNvPr>
          <p:cNvSpPr txBox="1"/>
          <p:nvPr/>
        </p:nvSpPr>
        <p:spPr>
          <a:xfrm>
            <a:off x="4724401" y="1326875"/>
            <a:ext cx="7293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highlight>
                  <a:srgbClr val="FF0000"/>
                </a:highlight>
              </a:rPr>
              <a:t>Number incorrect: should be 1 MM or 875K instead 2MM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BB24904-6EC5-1D91-F8D7-F8619A3723E1}"/>
                  </a:ext>
                </a:extLst>
              </p14:cNvPr>
              <p14:cNvContentPartPr/>
              <p14:nvPr/>
            </p14:nvContentPartPr>
            <p14:xfrm>
              <a:off x="3047623" y="2666400"/>
              <a:ext cx="2413800" cy="554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BB24904-6EC5-1D91-F8D7-F8619A3723E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993623" y="2558760"/>
                <a:ext cx="2521440" cy="271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003133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C8C5A-AD3C-4DD7-5421-4C21DCCC0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C9B6C0F5-C8AF-6A2B-4D94-FBE9BE2A7E3F}"/>
              </a:ext>
            </a:extLst>
          </p:cNvPr>
          <p:cNvGrpSpPr/>
          <p:nvPr/>
        </p:nvGrpSpPr>
        <p:grpSpPr>
          <a:xfrm>
            <a:off x="0" y="6275753"/>
            <a:ext cx="12192000" cy="582247"/>
            <a:chOff x="0" y="6275753"/>
            <a:chExt cx="12192000" cy="58224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2C03ED8-79ED-7E49-7A1A-3BE6C083D03C}"/>
                </a:ext>
              </a:extLst>
            </p:cNvPr>
            <p:cNvSpPr/>
            <p:nvPr/>
          </p:nvSpPr>
          <p:spPr>
            <a:xfrm>
              <a:off x="0" y="6275753"/>
              <a:ext cx="12192000" cy="582247"/>
            </a:xfrm>
            <a:prstGeom prst="rect">
              <a:avLst/>
            </a:prstGeom>
            <a:solidFill>
              <a:srgbClr val="008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12B2A04-25AC-93F1-DF8B-271E59A0D90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45" t="10154" r="14801" b="11629"/>
            <a:stretch/>
          </p:blipFill>
          <p:spPr>
            <a:xfrm>
              <a:off x="41658" y="6306775"/>
              <a:ext cx="2334491" cy="541479"/>
            </a:xfrm>
            <a:prstGeom prst="rect">
              <a:avLst/>
            </a:prstGeom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3B5169-3277-6F64-38FD-9D2BCF018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z="2000" smtClean="0">
                <a:solidFill>
                  <a:schemeClr val="bg1"/>
                </a:solidFill>
              </a:rPr>
              <a:t>21</a:t>
            </a:fld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3" name="Footer Placeholder 9">
            <a:extLst>
              <a:ext uri="{FF2B5EF4-FFF2-40B4-BE49-F238E27FC236}">
                <a16:creationId xmlns:a16="http://schemas.microsoft.com/office/drawing/2014/main" id="{10433D20-A2B2-C137-B113-BB67ACC76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2000" dirty="0">
                <a:solidFill>
                  <a:schemeClr val="bg1"/>
                </a:solidFill>
              </a:rPr>
              <a:t>Wei Zhang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52BA45-D05D-7E57-A6C0-E8B7F0E03785}"/>
              </a:ext>
            </a:extLst>
          </p:cNvPr>
          <p:cNvSpPr txBox="1"/>
          <p:nvPr/>
        </p:nvSpPr>
        <p:spPr>
          <a:xfrm>
            <a:off x="6613071" y="431951"/>
            <a:ext cx="39950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</a:rPr>
              <a:t>Bo’s file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2F842EB8-6851-847F-09B2-DB440D0591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978795"/>
            <a:ext cx="10134634" cy="30639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64D5A0F-53EA-D298-B31E-D7C89A370B02}"/>
              </a:ext>
            </a:extLst>
          </p:cNvPr>
          <p:cNvSpPr txBox="1"/>
          <p:nvPr/>
        </p:nvSpPr>
        <p:spPr>
          <a:xfrm>
            <a:off x="41658" y="9746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>
                    <a:lumMod val="75000"/>
                  </a:schemeClr>
                </a:solidFill>
              </a:rPr>
              <a:t>Check the unique variables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AF9B855-4A00-56A7-EC6B-41D0D95A75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58" y="1179370"/>
            <a:ext cx="11852552" cy="161746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B16FD58-25AC-9723-FE01-3781EECF3FB5}"/>
              </a:ext>
            </a:extLst>
          </p:cNvPr>
          <p:cNvSpPr txBox="1"/>
          <p:nvPr/>
        </p:nvSpPr>
        <p:spPr>
          <a:xfrm>
            <a:off x="6335486" y="3910872"/>
            <a:ext cx="7293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highlight>
                  <a:srgbClr val="FF0000"/>
                </a:highlight>
              </a:rPr>
              <a:t>Unique addresses are 400K, rather than 200K</a:t>
            </a:r>
          </a:p>
        </p:txBody>
      </p:sp>
    </p:spTree>
    <p:extLst>
      <p:ext uri="{BB962C8B-B14F-4D97-AF65-F5344CB8AC3E}">
        <p14:creationId xmlns:p14="http://schemas.microsoft.com/office/powerpoint/2010/main" val="20216925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A8497-0083-8DC9-44D4-5DF630AE9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E1B9EFB6-ADC8-C9C7-6B22-3A459449EF03}"/>
              </a:ext>
            </a:extLst>
          </p:cNvPr>
          <p:cNvGrpSpPr/>
          <p:nvPr/>
        </p:nvGrpSpPr>
        <p:grpSpPr>
          <a:xfrm>
            <a:off x="0" y="6275753"/>
            <a:ext cx="12192000" cy="582247"/>
            <a:chOff x="0" y="6275753"/>
            <a:chExt cx="12192000" cy="58224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5300EF6-03AD-1D55-6D3D-D1A891D18D59}"/>
                </a:ext>
              </a:extLst>
            </p:cNvPr>
            <p:cNvSpPr/>
            <p:nvPr/>
          </p:nvSpPr>
          <p:spPr>
            <a:xfrm>
              <a:off x="0" y="6275753"/>
              <a:ext cx="12192000" cy="582247"/>
            </a:xfrm>
            <a:prstGeom prst="rect">
              <a:avLst/>
            </a:prstGeom>
            <a:solidFill>
              <a:srgbClr val="008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8102F15-8A4C-A89B-A9A3-E66326685E7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45" t="10154" r="14801" b="11629"/>
            <a:stretch/>
          </p:blipFill>
          <p:spPr>
            <a:xfrm>
              <a:off x="41658" y="6306775"/>
              <a:ext cx="2334491" cy="541479"/>
            </a:xfrm>
            <a:prstGeom prst="rect">
              <a:avLst/>
            </a:prstGeom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B5A87A-3AAE-DB47-E2C7-D080BD6AC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z="2000" smtClean="0">
                <a:solidFill>
                  <a:schemeClr val="bg1"/>
                </a:solidFill>
              </a:rPr>
              <a:t>22</a:t>
            </a:fld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3" name="Footer Placeholder 9">
            <a:extLst>
              <a:ext uri="{FF2B5EF4-FFF2-40B4-BE49-F238E27FC236}">
                <a16:creationId xmlns:a16="http://schemas.microsoft.com/office/drawing/2014/main" id="{1A8E94B9-136F-1082-1A92-57A2890B4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2000" dirty="0">
                <a:solidFill>
                  <a:schemeClr val="bg1"/>
                </a:solidFill>
              </a:rPr>
              <a:t>Wei Zhang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9E6284-A44E-996E-C3B2-C11B8FEE3336}"/>
              </a:ext>
            </a:extLst>
          </p:cNvPr>
          <p:cNvSpPr txBox="1"/>
          <p:nvPr/>
        </p:nvSpPr>
        <p:spPr>
          <a:xfrm>
            <a:off x="0" y="9746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>
                    <a:lumMod val="75000"/>
                  </a:schemeClr>
                </a:solidFill>
              </a:rPr>
              <a:t>Cape received from us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A93EC3-0C0C-C560-965D-B2EDDEEE3F79}"/>
              </a:ext>
            </a:extLst>
          </p:cNvPr>
          <p:cNvSpPr txBox="1"/>
          <p:nvPr/>
        </p:nvSpPr>
        <p:spPr>
          <a:xfrm>
            <a:off x="-43543" y="898822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2800" dirty="0">
                <a:hlinkClick r:id="rId4"/>
              </a:rPr>
              <a:t>PRH_UWLookback_processed_combinedv4v5.csv</a:t>
            </a:r>
            <a:endParaRPr lang="en-US" sz="48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B6D0C1-707B-BA41-DBBB-A1667055651E}"/>
              </a:ext>
            </a:extLst>
          </p:cNvPr>
          <p:cNvSpPr txBox="1"/>
          <p:nvPr/>
        </p:nvSpPr>
        <p:spPr>
          <a:xfrm>
            <a:off x="2419692" y="4902862"/>
            <a:ext cx="75842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highlight>
                  <a:srgbClr val="FF0000"/>
                </a:highlight>
              </a:rPr>
              <a:t>Variables incorrect: should not contain v4 or v5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878594-411F-FD7A-9B10-CFA058D48E21}"/>
              </a:ext>
            </a:extLst>
          </p:cNvPr>
          <p:cNvSpPr txBox="1"/>
          <p:nvPr/>
        </p:nvSpPr>
        <p:spPr>
          <a:xfrm>
            <a:off x="8153400" y="345346"/>
            <a:ext cx="39950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</a:rPr>
              <a:t>Anh’s file (I was told) </a:t>
            </a:r>
            <a:r>
              <a:rPr lang="en-US" sz="24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historical PIF data include “effective date”</a:t>
            </a:r>
            <a:endParaRPr lang="en-US" sz="2400" dirty="0">
              <a:highlight>
                <a:srgbClr val="FFFF00"/>
              </a:highlight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4047C1-F89C-7A96-3738-5598C56384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931515"/>
            <a:ext cx="11833716" cy="285970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6D64480-0810-7A2C-9543-B54BDFF2FC27}"/>
              </a:ext>
            </a:extLst>
          </p:cNvPr>
          <p:cNvSpPr txBox="1"/>
          <p:nvPr/>
        </p:nvSpPr>
        <p:spPr>
          <a:xfrm>
            <a:off x="4060372" y="2427242"/>
            <a:ext cx="7293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highlight>
                  <a:srgbClr val="FF0000"/>
                </a:highlight>
              </a:rPr>
              <a:t>Number incorrect: should be 2 MM  </a:t>
            </a:r>
          </a:p>
        </p:txBody>
      </p:sp>
    </p:spTree>
    <p:extLst>
      <p:ext uri="{BB962C8B-B14F-4D97-AF65-F5344CB8AC3E}">
        <p14:creationId xmlns:p14="http://schemas.microsoft.com/office/powerpoint/2010/main" val="26094972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7049B-EE40-E4BC-A1EE-BCBFE75C3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54C6F39A-E6E1-8BFE-86C4-10F1C6955005}"/>
              </a:ext>
            </a:extLst>
          </p:cNvPr>
          <p:cNvGrpSpPr/>
          <p:nvPr/>
        </p:nvGrpSpPr>
        <p:grpSpPr>
          <a:xfrm>
            <a:off x="0" y="6275753"/>
            <a:ext cx="12192000" cy="582247"/>
            <a:chOff x="0" y="6275753"/>
            <a:chExt cx="12192000" cy="58224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1638551-61D5-BA1F-7B77-6963574C686D}"/>
                </a:ext>
              </a:extLst>
            </p:cNvPr>
            <p:cNvSpPr/>
            <p:nvPr/>
          </p:nvSpPr>
          <p:spPr>
            <a:xfrm>
              <a:off x="0" y="6275753"/>
              <a:ext cx="12192000" cy="582247"/>
            </a:xfrm>
            <a:prstGeom prst="rect">
              <a:avLst/>
            </a:prstGeom>
            <a:solidFill>
              <a:srgbClr val="008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3AAFD24-BC84-CB7A-BD88-82EC7C96E83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45" t="10154" r="14801" b="11629"/>
            <a:stretch/>
          </p:blipFill>
          <p:spPr>
            <a:xfrm>
              <a:off x="41658" y="6306775"/>
              <a:ext cx="2334491" cy="541479"/>
            </a:xfrm>
            <a:prstGeom prst="rect">
              <a:avLst/>
            </a:prstGeom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92B7A9-1AD6-16A1-EF56-E9DF96559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z="2000" smtClean="0">
                <a:solidFill>
                  <a:schemeClr val="bg1"/>
                </a:solidFill>
              </a:rPr>
              <a:t>23</a:t>
            </a:fld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3" name="Footer Placeholder 9">
            <a:extLst>
              <a:ext uri="{FF2B5EF4-FFF2-40B4-BE49-F238E27FC236}">
                <a16:creationId xmlns:a16="http://schemas.microsoft.com/office/drawing/2014/main" id="{FE73F2CD-130D-931B-237C-2272F5226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2000" dirty="0">
                <a:solidFill>
                  <a:schemeClr val="bg1"/>
                </a:solidFill>
              </a:rPr>
              <a:t>Wei Zhang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2A0F11-9125-3776-DCD4-BFB1E3DCCB57}"/>
              </a:ext>
            </a:extLst>
          </p:cNvPr>
          <p:cNvSpPr txBox="1"/>
          <p:nvPr/>
        </p:nvSpPr>
        <p:spPr>
          <a:xfrm>
            <a:off x="0" y="9746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>
                    <a:lumMod val="75000"/>
                  </a:schemeClr>
                </a:solidFill>
              </a:rPr>
              <a:t>Check the keywords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5A1CEB2-C073-050F-B881-CDD0CDF7D2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58" y="524484"/>
            <a:ext cx="7478486" cy="44107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367A706-0BC8-6F3D-D5DF-97ECCA7274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58" y="5156857"/>
            <a:ext cx="8415668" cy="125097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36204D0-5A60-7389-D6F8-2BB7D137A0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1304" y="5732571"/>
            <a:ext cx="5405596" cy="58477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2F5B30C-00A9-0CC8-EC3E-1F657B46FDB0}"/>
              </a:ext>
            </a:extLst>
          </p:cNvPr>
          <p:cNvSpPr txBox="1"/>
          <p:nvPr/>
        </p:nvSpPr>
        <p:spPr>
          <a:xfrm>
            <a:off x="7561802" y="2143009"/>
            <a:ext cx="424542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</a:rPr>
              <a:t>This file may be Cape sent to us, and combined the V4 and V5 results.</a:t>
            </a:r>
          </a:p>
          <a:p>
            <a:r>
              <a:rPr lang="en-US" sz="2400" dirty="0">
                <a:highlight>
                  <a:srgbClr val="FFFF00"/>
                </a:highlight>
              </a:rPr>
              <a:t>But the number is only 750K and the total variables number not correct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F21F5CD-AD24-C7CF-38EF-FA7CE84FA81B}"/>
                  </a:ext>
                </a:extLst>
              </p14:cNvPr>
              <p14:cNvContentPartPr/>
              <p14:nvPr/>
            </p14:nvContentPartPr>
            <p14:xfrm>
              <a:off x="151783" y="1044600"/>
              <a:ext cx="2905200" cy="777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F21F5CD-AD24-C7CF-38EF-FA7CE84FA81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8143" y="936960"/>
                <a:ext cx="3012840" cy="29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42BF039-3C24-C0CA-98EA-4BA845E9C48D}"/>
                  </a:ext>
                </a:extLst>
              </p14:cNvPr>
              <p14:cNvContentPartPr/>
              <p14:nvPr/>
            </p14:nvContentPartPr>
            <p14:xfrm>
              <a:off x="217303" y="4233120"/>
              <a:ext cx="2837160" cy="2419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42BF039-3C24-C0CA-98EA-4BA845E9C48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63663" y="4125120"/>
                <a:ext cx="2944800" cy="45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336609F-7487-8E93-D312-E193D99E36AD}"/>
                  </a:ext>
                </a:extLst>
              </p14:cNvPr>
              <p14:cNvContentPartPr/>
              <p14:nvPr/>
            </p14:nvContentPartPr>
            <p14:xfrm>
              <a:off x="696103" y="4288920"/>
              <a:ext cx="2307240" cy="986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336609F-7487-8E93-D312-E193D99E36A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42463" y="4181280"/>
                <a:ext cx="2414880" cy="31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11E08AD-78AB-646D-D71F-04F1CA5A1018}"/>
                  </a:ext>
                </a:extLst>
              </p14:cNvPr>
              <p14:cNvContentPartPr/>
              <p14:nvPr/>
            </p14:nvContentPartPr>
            <p14:xfrm>
              <a:off x="271663" y="4332120"/>
              <a:ext cx="2565720" cy="1540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11E08AD-78AB-646D-D71F-04F1CA5A101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18023" y="4224480"/>
                <a:ext cx="2673360" cy="36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4BB1500-F078-6FFA-0CB5-3C3BD3501A58}"/>
                  </a:ext>
                </a:extLst>
              </p14:cNvPr>
              <p14:cNvContentPartPr/>
              <p14:nvPr/>
            </p14:nvContentPartPr>
            <p14:xfrm>
              <a:off x="223063" y="4277400"/>
              <a:ext cx="1866960" cy="126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4BB1500-F078-6FFA-0CB5-3C3BD3501A5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69423" y="4169760"/>
                <a:ext cx="1974600" cy="228240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0F9975CE-F198-A60B-7307-3932E76C7EFC}"/>
              </a:ext>
            </a:extLst>
          </p:cNvPr>
          <p:cNvSpPr txBox="1"/>
          <p:nvPr/>
        </p:nvSpPr>
        <p:spPr>
          <a:xfrm>
            <a:off x="7561802" y="450166"/>
            <a:ext cx="45124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Anh’s file: historical PIF data include </a:t>
            </a:r>
            <a:r>
              <a:rPr lang="en-US" sz="1800" b="1" dirty="0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“effective date”</a:t>
            </a:r>
            <a:endParaRPr 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3878736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624E0-F8B5-5E36-A4B8-0A1576F02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DFF95D2-5FB4-F4AF-02EE-C19201E56144}"/>
              </a:ext>
            </a:extLst>
          </p:cNvPr>
          <p:cNvGrpSpPr/>
          <p:nvPr/>
        </p:nvGrpSpPr>
        <p:grpSpPr>
          <a:xfrm>
            <a:off x="0" y="6275753"/>
            <a:ext cx="12192000" cy="582247"/>
            <a:chOff x="0" y="6275753"/>
            <a:chExt cx="12192000" cy="58224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6B8973F-B948-9C2E-1087-2576FFBAEC22}"/>
                </a:ext>
              </a:extLst>
            </p:cNvPr>
            <p:cNvSpPr/>
            <p:nvPr/>
          </p:nvSpPr>
          <p:spPr>
            <a:xfrm>
              <a:off x="0" y="6275753"/>
              <a:ext cx="12192000" cy="582247"/>
            </a:xfrm>
            <a:prstGeom prst="rect">
              <a:avLst/>
            </a:prstGeom>
            <a:solidFill>
              <a:srgbClr val="008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30349B2-D571-B454-9A61-9C8C7295A70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45" t="10154" r="14801" b="11629"/>
            <a:stretch/>
          </p:blipFill>
          <p:spPr>
            <a:xfrm>
              <a:off x="41658" y="6306775"/>
              <a:ext cx="2334491" cy="541479"/>
            </a:xfrm>
            <a:prstGeom prst="rect">
              <a:avLst/>
            </a:prstGeom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1F0C28-0E6A-4739-00D5-00F72CAD2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z="2000" smtClean="0">
                <a:solidFill>
                  <a:schemeClr val="bg1"/>
                </a:solidFill>
              </a:rPr>
              <a:t>24</a:t>
            </a:fld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3" name="Footer Placeholder 9">
            <a:extLst>
              <a:ext uri="{FF2B5EF4-FFF2-40B4-BE49-F238E27FC236}">
                <a16:creationId xmlns:a16="http://schemas.microsoft.com/office/drawing/2014/main" id="{A5B9EE02-7412-3F6B-6CCD-966D7C57B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2000" dirty="0">
                <a:solidFill>
                  <a:schemeClr val="bg1"/>
                </a:solidFill>
              </a:rPr>
              <a:t>Wei Zhang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83F0D8-D049-4989-1AA8-9A145514B820}"/>
              </a:ext>
            </a:extLst>
          </p:cNvPr>
          <p:cNvSpPr txBox="1"/>
          <p:nvPr/>
        </p:nvSpPr>
        <p:spPr>
          <a:xfrm>
            <a:off x="0" y="9746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>
                    <a:lumMod val="75000"/>
                  </a:schemeClr>
                </a:solidFill>
              </a:rPr>
              <a:t>Cape send to us (V4 data)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FCEF17-F260-9539-792A-4D4389254656}"/>
              </a:ext>
            </a:extLst>
          </p:cNvPr>
          <p:cNvSpPr txBox="1"/>
          <p:nvPr/>
        </p:nvSpPr>
        <p:spPr>
          <a:xfrm>
            <a:off x="0" y="815810"/>
            <a:ext cx="110626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006CE0"/>
                </a:solidFill>
                <a:effectLst/>
                <a:latin typeface="Amazon Ember"/>
                <a:hlinkClick r:id="rId4"/>
              </a:rPr>
              <a:t>PRAC_Historical_PIF_072025_Updated_073125_cape_processed_rcrv4.csv.gz</a:t>
            </a:r>
            <a:endParaRPr lang="en-US" sz="2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135F5EF-B097-1770-E5F1-EDD3CB3ED7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021" y="1729416"/>
            <a:ext cx="7530226" cy="11770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788D52A-7C8D-5CF8-D3DA-BA8B8035AE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021" y="3515820"/>
            <a:ext cx="8980217" cy="2180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479358-9385-3D51-2744-9031A22C940F}"/>
              </a:ext>
            </a:extLst>
          </p:cNvPr>
          <p:cNvSpPr txBox="1"/>
          <p:nvPr/>
        </p:nvSpPr>
        <p:spPr>
          <a:xfrm>
            <a:off x="7369629" y="2094202"/>
            <a:ext cx="48223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</a:rPr>
              <a:t>The number is the same as Bo’s file.</a:t>
            </a:r>
          </a:p>
          <a:p>
            <a:r>
              <a:rPr lang="en-US" sz="2400" dirty="0">
                <a:highlight>
                  <a:srgbClr val="FFFF00"/>
                </a:highlight>
              </a:rPr>
              <a:t>But Bo’s file should have been 1 MM or 875K.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52A9F32-1753-70C2-D647-C3BC548F50AE}"/>
                  </a:ext>
                </a:extLst>
              </p14:cNvPr>
              <p14:cNvContentPartPr/>
              <p14:nvPr/>
            </p14:nvContentPartPr>
            <p14:xfrm>
              <a:off x="271663" y="4145280"/>
              <a:ext cx="2645280" cy="1447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52A9F32-1753-70C2-D647-C3BC548F50A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8023" y="4037640"/>
                <a:ext cx="2752920" cy="36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2CD23FE-5792-1F6E-74DD-C5D3BB90D2CF}"/>
                  </a:ext>
                </a:extLst>
              </p14:cNvPr>
              <p14:cNvContentPartPr/>
              <p14:nvPr/>
            </p14:nvContentPartPr>
            <p14:xfrm>
              <a:off x="1469383" y="4201440"/>
              <a:ext cx="1417320" cy="446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2CD23FE-5792-1F6E-74DD-C5D3BB90D2C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415743" y="4093800"/>
                <a:ext cx="1524960" cy="260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630772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12896-2011-95AD-B5C8-C8072A7A5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27BE95F5-34AB-8635-2B0B-54BDB229CD0B}"/>
              </a:ext>
            </a:extLst>
          </p:cNvPr>
          <p:cNvGrpSpPr/>
          <p:nvPr/>
        </p:nvGrpSpPr>
        <p:grpSpPr>
          <a:xfrm>
            <a:off x="0" y="6275753"/>
            <a:ext cx="12192000" cy="582247"/>
            <a:chOff x="0" y="6275753"/>
            <a:chExt cx="12192000" cy="58224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274BFE5-C2C5-A45F-E4BE-1817766E25DA}"/>
                </a:ext>
              </a:extLst>
            </p:cNvPr>
            <p:cNvSpPr/>
            <p:nvPr/>
          </p:nvSpPr>
          <p:spPr>
            <a:xfrm>
              <a:off x="0" y="6275753"/>
              <a:ext cx="12192000" cy="582247"/>
            </a:xfrm>
            <a:prstGeom prst="rect">
              <a:avLst/>
            </a:prstGeom>
            <a:solidFill>
              <a:srgbClr val="008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F351295-8E43-F07F-07E7-1AE6CBE8E94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45" t="10154" r="14801" b="11629"/>
            <a:stretch/>
          </p:blipFill>
          <p:spPr>
            <a:xfrm>
              <a:off x="41658" y="6306775"/>
              <a:ext cx="2334491" cy="541479"/>
            </a:xfrm>
            <a:prstGeom prst="rect">
              <a:avLst/>
            </a:prstGeom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302C16-2E1D-702E-F40C-C8CE70603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z="2000" smtClean="0">
                <a:solidFill>
                  <a:schemeClr val="bg1"/>
                </a:solidFill>
              </a:rPr>
              <a:t>25</a:t>
            </a:fld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3" name="Footer Placeholder 9">
            <a:extLst>
              <a:ext uri="{FF2B5EF4-FFF2-40B4-BE49-F238E27FC236}">
                <a16:creationId xmlns:a16="http://schemas.microsoft.com/office/drawing/2014/main" id="{912C4454-33BA-5B3E-B37B-9F99E5A60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2000" dirty="0">
                <a:solidFill>
                  <a:schemeClr val="bg1"/>
                </a:solidFill>
              </a:rPr>
              <a:t>Wei Zhang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831E2C-0936-8D21-EB70-6490F06D4E7D}"/>
              </a:ext>
            </a:extLst>
          </p:cNvPr>
          <p:cNvSpPr txBox="1"/>
          <p:nvPr/>
        </p:nvSpPr>
        <p:spPr>
          <a:xfrm>
            <a:off x="-117020" y="7154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>
                    <a:lumMod val="75000"/>
                  </a:schemeClr>
                </a:solidFill>
              </a:rPr>
              <a:t>Cape send to us (V5 data)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A438C8-9151-8C4D-B1D6-DFBA5102AE8A}"/>
              </a:ext>
            </a:extLst>
          </p:cNvPr>
          <p:cNvSpPr txBox="1"/>
          <p:nvPr/>
        </p:nvSpPr>
        <p:spPr>
          <a:xfrm>
            <a:off x="1" y="941504"/>
            <a:ext cx="110626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hlinkClick r:id="rId4"/>
              </a:rPr>
              <a:t>PRAC_Historical_PIF_072025_Updated_073125_cape_processed_rcrv5.csv.gz</a:t>
            </a:r>
            <a:endParaRPr lang="en-US" sz="32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A195DA1-0125-840E-2506-481B9D03E9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" y="1688354"/>
            <a:ext cx="6706534" cy="96424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99A92C0-E0DD-308A-3928-D9208D547A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765768"/>
            <a:ext cx="6893379" cy="408248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C0D8D39-4E24-DAE3-E558-87721768475B}"/>
                  </a:ext>
                </a:extLst>
              </p14:cNvPr>
              <p14:cNvContentPartPr/>
              <p14:nvPr/>
            </p14:nvContentPartPr>
            <p14:xfrm>
              <a:off x="119743" y="3331046"/>
              <a:ext cx="2389680" cy="65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C0D8D39-4E24-DAE3-E558-87721768475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6103" y="3223406"/>
                <a:ext cx="2497320" cy="281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962514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7A7C1-1AE5-7A33-1E4D-33438A0D4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011AA-9F2C-D1FB-6E13-63568B5AC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Creenshots</a:t>
            </a:r>
            <a:r>
              <a:rPr lang="en-US" dirty="0"/>
              <a:t> for the 16 files in the directory</a:t>
            </a:r>
          </a:p>
          <a:p>
            <a:endParaRPr lang="en-US" dirty="0"/>
          </a:p>
          <a:p>
            <a:r>
              <a:rPr lang="en-US" dirty="0"/>
              <a:t>Locations of the files, why they are suspicious</a:t>
            </a:r>
          </a:p>
          <a:p>
            <a:r>
              <a:rPr lang="en-US" dirty="0"/>
              <a:t> ( I can’t have </a:t>
            </a:r>
            <a:r>
              <a:rPr lang="en-US" dirty="0" err="1"/>
              <a:t>accesss</a:t>
            </a:r>
            <a:r>
              <a:rPr lang="en-US" dirty="0"/>
              <a:t> to Cape</a:t>
            </a:r>
          </a:p>
          <a:p>
            <a:endParaRPr lang="en-US" dirty="0"/>
          </a:p>
          <a:p>
            <a:r>
              <a:rPr lang="en-US" dirty="0"/>
              <a:t>( no keyword with </a:t>
            </a:r>
            <a:r>
              <a:rPr lang="en-US" dirty="0" err="1"/>
              <a:t>run_date</a:t>
            </a:r>
            <a:r>
              <a:rPr lang="en-US" dirty="0"/>
              <a:t> from Cape</a:t>
            </a:r>
          </a:p>
          <a:p>
            <a:endParaRPr lang="en-US" dirty="0"/>
          </a:p>
          <a:p>
            <a:r>
              <a:rPr lang="en-US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03C911-F4C7-860B-1B24-05426EFD7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Jay Pi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D09031-B462-6611-9CB4-0C6C694EE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4491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2B69907-5999-A86B-B04F-E04DBB7C7B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381983"/>
            <a:ext cx="12192000" cy="1182806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53E697-91CF-E65F-8A37-3B72FD614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Jay Pi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2EA1DD-5CF1-F213-485C-5854C87EF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4148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14633</TotalTime>
  <Words>1596</Words>
  <Application>Microsoft Office PowerPoint</Application>
  <PresentationFormat>Widescreen</PresentationFormat>
  <Paragraphs>255</Paragraphs>
  <Slides>27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Amazon Ember</vt:lpstr>
      <vt:lpstr>Aptos</vt:lpstr>
      <vt:lpstr>Arial</vt:lpstr>
      <vt:lpstr>Calibri</vt:lpstr>
      <vt:lpstr>Calibri Light</vt:lpstr>
      <vt:lpstr>Consolas</vt:lpstr>
      <vt:lpstr>Whitney Book</vt:lpstr>
      <vt:lpstr>Whitney Medium</vt:lpstr>
      <vt:lpstr>Office Theme</vt:lpstr>
      <vt:lpstr>Fall Intern: Cape V4V5 performance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Plymouth Rock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Pi, Jay</dc:creator>
  <cp:lastModifiedBy>Zhang, Wei</cp:lastModifiedBy>
  <cp:revision>1530</cp:revision>
  <dcterms:created xsi:type="dcterms:W3CDTF">2021-05-04T14:04:01Z</dcterms:created>
  <dcterms:modified xsi:type="dcterms:W3CDTF">2025-11-20T21:21:18Z</dcterms:modified>
</cp:coreProperties>
</file>